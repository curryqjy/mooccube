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94" r:id="rId3"/>
    <p:sldId id="258" r:id="rId5"/>
    <p:sldId id="331" r:id="rId6"/>
    <p:sldId id="326" r:id="rId7"/>
    <p:sldId id="262" r:id="rId8"/>
    <p:sldId id="342" r:id="rId9"/>
    <p:sldId id="266" r:id="rId10"/>
    <p:sldId id="333" r:id="rId11"/>
    <p:sldId id="267" r:id="rId12"/>
    <p:sldId id="328" r:id="rId13"/>
    <p:sldId id="274" r:id="rId14"/>
    <p:sldId id="329" r:id="rId15"/>
    <p:sldId id="330" r:id="rId16"/>
    <p:sldId id="304" r:id="rId17"/>
    <p:sldId id="335" r:id="rId18"/>
    <p:sldId id="336" r:id="rId19"/>
    <p:sldId id="343" r:id="rId20"/>
    <p:sldId id="344" r:id="rId21"/>
    <p:sldId id="340" r:id="rId22"/>
  </p:sldIdLst>
  <p:sldSz cx="9144000" cy="6858000" type="screen4x3"/>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0504D"/>
    <a:srgbClr val="AF4946"/>
    <a:srgbClr val="1C4372"/>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73" d="100"/>
          <a:sy n="73" d="100"/>
        </p:scale>
        <p:origin x="1747" y="53"/>
      </p:cViewPr>
      <p:guideLst>
        <p:guide orient="horz" pos="2081"/>
        <p:guide pos="288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8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Venn </a:t>
            </a:r>
            <a:r>
              <a:rPr lang="zh-CN" altLang="en-US"/>
              <a:t>图，用圆圈之间的重叠关系来表示集合关系的图。</a:t>
            </a:r>
            <a:br>
              <a:rPr lang="zh-CN" altLang="en-US"/>
            </a:br>
            <a:r>
              <a:rPr lang="zh-CN" altLang="en-US"/>
              <a:t>“正确推荐物品数”不是训练时算的，而是模型完成推荐之后，在测试集上做的后验统计。</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Venn </a:t>
            </a:r>
            <a:r>
              <a:rPr lang="zh-CN" altLang="en-US"/>
              <a:t>图就是用圆圈重叠来表示多个集合之间“共有多少、各自独有多少”的图。在这篇论文中，它用来展示 </a:t>
            </a:r>
            <a:r>
              <a:rPr lang="en-US" altLang="zh-CN"/>
              <a:t>Expert 1、Expert 2 </a:t>
            </a:r>
            <a:r>
              <a:rPr lang="zh-CN" altLang="en-US"/>
              <a:t>和 </a:t>
            </a:r>
            <a:r>
              <a:rPr lang="en-US" altLang="zh-CN"/>
              <a:t>SAGERec </a:t>
            </a:r>
            <a:r>
              <a:rPr lang="zh-CN" altLang="en-US"/>
              <a:t>正确推荐 </a:t>
            </a:r>
            <a:r>
              <a:rPr lang="en-US" altLang="zh-CN"/>
              <a:t>item </a:t>
            </a:r>
            <a:r>
              <a:rPr lang="zh-CN" altLang="en-US"/>
              <a:t>的重叠与差异。</a:t>
            </a:r>
            <a:br>
              <a:rPr lang="zh-CN" altLang="en-US"/>
            </a:br>
            <a:r>
              <a:rPr lang="zh-CN" altLang="en-US"/>
              <a:t>第一，</a:t>
            </a:r>
            <a:r>
              <a:rPr lang="en-US" altLang="zh-CN"/>
              <a:t>Expert 1 </a:t>
            </a:r>
            <a:r>
              <a:rPr lang="zh-CN" altLang="en-US"/>
              <a:t>和 </a:t>
            </a:r>
            <a:r>
              <a:rPr lang="en-US" altLang="zh-CN"/>
              <a:t>Expert 2 </a:t>
            </a:r>
            <a:r>
              <a:rPr lang="zh-CN" altLang="en-US"/>
              <a:t>有互补性。第二，</a:t>
            </a:r>
            <a:r>
              <a:rPr lang="en-US" altLang="zh-CN"/>
              <a:t>SAGERec </a:t>
            </a:r>
            <a:r>
              <a:rPr lang="zh-CN" altLang="en-US"/>
              <a:t>融合后确实比单个专家覆盖更多正确 </a:t>
            </a:r>
            <a:r>
              <a:rPr lang="en-US" altLang="zh-CN"/>
              <a:t>item。</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Venn </a:t>
            </a:r>
            <a:r>
              <a:rPr lang="zh-CN" altLang="en-US"/>
              <a:t>图就是用圆圈重叠来表示多个集合之间“共有多少、各自独有多少”的图。在这篇论文中，它用来展示 </a:t>
            </a:r>
            <a:r>
              <a:rPr lang="en-US" altLang="zh-CN"/>
              <a:t>Expert 1、Expert 2 </a:t>
            </a:r>
            <a:r>
              <a:rPr lang="zh-CN" altLang="en-US"/>
              <a:t>和 </a:t>
            </a:r>
            <a:r>
              <a:rPr lang="en-US" altLang="zh-CN"/>
              <a:t>SAGERec </a:t>
            </a:r>
            <a:r>
              <a:rPr lang="zh-CN" altLang="en-US"/>
              <a:t>正确推荐 </a:t>
            </a:r>
            <a:r>
              <a:rPr lang="en-US" altLang="zh-CN"/>
              <a:t>item </a:t>
            </a:r>
            <a:r>
              <a:rPr lang="zh-CN" altLang="en-US"/>
              <a:t>的重叠与差异。</a:t>
            </a:r>
            <a:br>
              <a:rPr lang="zh-CN" altLang="en-US"/>
            </a:br>
            <a:r>
              <a:rPr lang="zh-CN" altLang="en-US"/>
              <a:t>第一，</a:t>
            </a:r>
            <a:r>
              <a:rPr lang="en-US" altLang="zh-CN"/>
              <a:t>Expert 1 </a:t>
            </a:r>
            <a:r>
              <a:rPr lang="zh-CN" altLang="en-US"/>
              <a:t>和 </a:t>
            </a:r>
            <a:r>
              <a:rPr lang="en-US" altLang="zh-CN"/>
              <a:t>Expert 2 </a:t>
            </a:r>
            <a:r>
              <a:rPr lang="zh-CN" altLang="en-US"/>
              <a:t>有互补性。第二，</a:t>
            </a:r>
            <a:r>
              <a:rPr lang="en-US" altLang="zh-CN"/>
              <a:t>SAGERec </a:t>
            </a:r>
            <a:r>
              <a:rPr lang="zh-CN" altLang="en-US"/>
              <a:t>融合后确实比单个专家覆盖更多正确 </a:t>
            </a:r>
            <a:r>
              <a:rPr lang="en-US" altLang="zh-CN"/>
              <a:t>item。</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899100" y="914400"/>
            <a:ext cx="73494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899100" y="3560400"/>
            <a:ext cx="73494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456300" y="1490400"/>
            <a:ext cx="82269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493100" y="3848400"/>
            <a:ext cx="58266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493100" y="4615200"/>
            <a:ext cx="58266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456300" y="1501200"/>
            <a:ext cx="38826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4808700" y="1501200"/>
            <a:ext cx="38826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456300" y="1429200"/>
            <a:ext cx="40068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456300" y="1854000"/>
            <a:ext cx="40068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4676813" y="1421729"/>
            <a:ext cx="40068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4676813" y="1854000"/>
            <a:ext cx="40068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456300" y="1555200"/>
            <a:ext cx="3924808"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4762800" y="1555200"/>
            <a:ext cx="39204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7676100" y="914400"/>
            <a:ext cx="783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685800" y="914400"/>
            <a:ext cx="68769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456300" y="774000"/>
            <a:ext cx="82296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899100" y="2484000"/>
            <a:ext cx="73494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899100" y="3560400"/>
            <a:ext cx="73494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456300" y="608400"/>
            <a:ext cx="82269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456300" y="1490400"/>
            <a:ext cx="82269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459000" y="6314400"/>
            <a:ext cx="2025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000" y="6314400"/>
            <a:ext cx="297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6658200" y="6314400"/>
            <a:ext cx="2025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63.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64.xml"/><Relationship Id="rId2" Type="http://schemas.openxmlformats.org/officeDocument/2006/relationships/image" Target="../media/image3.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tags" Target="../tags/tag65.xml"/><Relationship Id="rId2" Type="http://schemas.openxmlformats.org/officeDocument/2006/relationships/image" Target="../media/image4.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6.xml"/><Relationship Id="rId2" Type="http://schemas.openxmlformats.org/officeDocument/2006/relationships/image" Target="../media/image5.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tags" Target="../tags/tag67.xml"/><Relationship Id="rId2" Type="http://schemas.openxmlformats.org/officeDocument/2006/relationships/image" Target="../media/image6.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6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9.xml"/><Relationship Id="rId2" Type="http://schemas.openxmlformats.org/officeDocument/2006/relationships/image" Target="../media/image12.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0.xml"/><Relationship Id="rId2" Type="http://schemas.openxmlformats.org/officeDocument/2006/relationships/image" Target="../media/image13.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image" Target="../media/image14.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image" Target="../media/image15.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tags" Target="../tags/tag73.xml"/><Relationship Id="rId2" Type="http://schemas.openxmlformats.org/officeDocument/2006/relationships/image" Target="../media/image16.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image" Target="../media/image17.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5.xml"/><Relationship Id="rId2" Type="http://schemas.openxmlformats.org/officeDocument/2006/relationships/image" Target="../media/image18.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6.xml"/><Relationship Id="rId2" Type="http://schemas.openxmlformats.org/officeDocument/2006/relationships/image" Target="../media/image19.pn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image" Target="../media/image20.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image" Target="../media/image21.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image" Target="../media/image22.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image" Target="../media/image23.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Title</a:t>
            </a:r>
            <a:endParaRPr lang="en-US" altLang="zh-CN" dirty="0">
              <a:solidFill>
                <a:schemeClr val="bg1"/>
              </a:solidFill>
            </a:endParaRPr>
          </a:p>
        </p:txBody>
      </p:sp>
      <p:sp>
        <p:nvSpPr>
          <p:cNvPr id="5" name="文本框 4"/>
          <p:cNvSpPr txBox="1"/>
          <p:nvPr/>
        </p:nvSpPr>
        <p:spPr>
          <a:xfrm>
            <a:off x="3829678" y="5671163"/>
            <a:ext cx="1141730" cy="368300"/>
          </a:xfrm>
          <a:prstGeom prst="rect">
            <a:avLst/>
          </a:prstGeom>
          <a:noFill/>
        </p:spPr>
        <p:txBody>
          <a:bodyPr wrap="none" rtlCol="0">
            <a:spAutoFit/>
          </a:bodyPr>
          <a:lstStyle/>
          <a:p>
            <a:pPr algn="l"/>
            <a:r>
              <a:rPr lang="en-US" altLang="zh-CN" dirty="0">
                <a:latin typeface="Times New Roman" panose="02020603050405020304" charset="0"/>
                <a:cs typeface="Times New Roman" panose="02020603050405020304" charset="0"/>
              </a:rPr>
              <a:t>SIGIR ’26</a:t>
            </a:r>
            <a:endParaRPr lang="en-US" altLang="zh-CN" dirty="0">
              <a:latin typeface="Times New Roman" panose="02020603050405020304" charset="0"/>
              <a:cs typeface="Times New Roman" panose="02020603050405020304" charset="0"/>
            </a:endParaRPr>
          </a:p>
        </p:txBody>
      </p:sp>
      <p:pic>
        <p:nvPicPr>
          <p:cNvPr id="3" name="图片 2"/>
          <p:cNvPicPr>
            <a:picLocks noChangeAspect="1"/>
          </p:cNvPicPr>
          <p:nvPr/>
        </p:nvPicPr>
        <p:blipFill>
          <a:blip r:embed="rId2"/>
          <a:stretch>
            <a:fillRect/>
          </a:stretch>
        </p:blipFill>
        <p:spPr>
          <a:xfrm>
            <a:off x="0" y="1279525"/>
            <a:ext cx="9144000" cy="4177665"/>
          </a:xfrm>
          <a:prstGeom prst="rect">
            <a:avLst/>
          </a:prstGeom>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Abstract</a:t>
            </a:r>
            <a:endParaRPr lang="en-US" altLang="zh-CN" dirty="0">
              <a:solidFill>
                <a:schemeClr val="bg1"/>
              </a:solidFill>
            </a:endParaRPr>
          </a:p>
        </p:txBody>
      </p:sp>
      <p:sp>
        <p:nvSpPr>
          <p:cNvPr id="6" name="文本框 5"/>
          <p:cNvSpPr txBox="1"/>
          <p:nvPr/>
        </p:nvSpPr>
        <p:spPr>
          <a:xfrm>
            <a:off x="5633085" y="1113790"/>
            <a:ext cx="2814320" cy="368300"/>
          </a:xfrm>
          <a:prstGeom prst="rect">
            <a:avLst/>
          </a:prstGeom>
          <a:noFill/>
        </p:spPr>
        <p:txBody>
          <a:bodyPr wrap="square" rtlCol="0">
            <a:spAutoFit/>
          </a:bodyPr>
          <a:lstStyle/>
          <a:p>
            <a:r>
              <a:rPr lang="zh-CN" altLang="en-US" dirty="0"/>
              <a:t>动机：</a:t>
            </a:r>
            <a:endParaRPr lang="zh-CN" altLang="en-US" dirty="0"/>
          </a:p>
        </p:txBody>
      </p:sp>
      <p:sp>
        <p:nvSpPr>
          <p:cNvPr id="7" name="文本框 6"/>
          <p:cNvSpPr txBox="1"/>
          <p:nvPr/>
        </p:nvSpPr>
        <p:spPr>
          <a:xfrm>
            <a:off x="5633085" y="1562100"/>
            <a:ext cx="3378835" cy="4358005"/>
          </a:xfrm>
          <a:prstGeom prst="rect">
            <a:avLst/>
          </a:prstGeom>
          <a:noFill/>
        </p:spPr>
        <p:txBody>
          <a:bodyPr wrap="square" rtlCol="0">
            <a:noAutofit/>
          </a:bodyPr>
          <a:lstStyle/>
          <a:p>
            <a:pPr algn="just"/>
            <a:r>
              <a:rPr lang="en-US" altLang="zh-CN" dirty="0"/>
              <a:t>    </a:t>
            </a:r>
            <a:r>
              <a:rPr lang="zh-CN" altLang="en-US" dirty="0"/>
              <a:t>现有的多模态推荐方法往往忽视了用户表示初始化这一关键环节，与天然具备丰富模态信息的物品不同，用户本身缺乏此类固有信息。</a:t>
            </a:r>
            <a:endParaRPr lang="zh-CN" altLang="en-US" dirty="0"/>
          </a:p>
          <a:p>
            <a:pPr algn="just"/>
            <a:r>
              <a:rPr lang="en-US" altLang="zh-CN" dirty="0"/>
              <a:t>     </a:t>
            </a:r>
            <a:r>
              <a:rPr lang="zh-CN" altLang="en-US" dirty="0"/>
              <a:t>基于有意义模态信息初始化的物品表示与随机初始化的用户表示之间存在显著的语义差异。</a:t>
            </a:r>
            <a:r>
              <a:rPr lang="en-US" altLang="zh-CN" dirty="0"/>
              <a:t>    </a:t>
            </a:r>
            <a:endParaRPr lang="en-US" altLang="zh-CN" dirty="0"/>
          </a:p>
          <a:p>
            <a:pPr algn="just"/>
            <a:r>
              <a:rPr lang="en-US" altLang="zh-CN" dirty="0"/>
              <a:t>    </a:t>
            </a:r>
            <a:r>
              <a:rPr lang="zh-CN" altLang="en-US" dirty="0"/>
              <a:t>因此文章提出了一种语义保证的用户表征初始化方法</a:t>
            </a:r>
            <a:r>
              <a:rPr lang="en-US" altLang="zh-CN" dirty="0"/>
              <a:t>（SG-URInit）</a:t>
            </a:r>
            <a:r>
              <a:rPr lang="zh-CN" altLang="en-US" dirty="0"/>
              <a:t>，</a:t>
            </a:r>
            <a:r>
              <a:rPr lang="en-US" altLang="zh-CN" dirty="0"/>
              <a:t>SG-URInit </a:t>
            </a:r>
            <a:r>
              <a:rPr lang="zh-CN" altLang="en-US" dirty="0"/>
              <a:t>通过整合用户交互过的项目的模态特征及其对应聚类的全局特征，为每位用户构建初始表征。</a:t>
            </a:r>
            <a:endParaRPr lang="zh-CN" altLang="en-US" dirty="0"/>
          </a:p>
        </p:txBody>
      </p:sp>
      <p:pic>
        <p:nvPicPr>
          <p:cNvPr id="3" name="图片 2"/>
          <p:cNvPicPr>
            <a:picLocks noChangeAspect="1"/>
          </p:cNvPicPr>
          <p:nvPr/>
        </p:nvPicPr>
        <p:blipFill>
          <a:blip r:embed="rId2"/>
          <a:stretch>
            <a:fillRect/>
          </a:stretch>
        </p:blipFill>
        <p:spPr>
          <a:xfrm>
            <a:off x="161925" y="867410"/>
            <a:ext cx="4600575" cy="5601970"/>
          </a:xfrm>
          <a:prstGeom prst="rect">
            <a:avLst/>
          </a:prstGeom>
        </p:spPr>
      </p:pic>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Motivation</a:t>
            </a:r>
            <a:endParaRPr lang="zh-CN" altLang="en-US" dirty="0">
              <a:solidFill>
                <a:schemeClr val="bg1"/>
              </a:solidFill>
            </a:endParaRPr>
          </a:p>
        </p:txBody>
      </p:sp>
      <p:pic>
        <p:nvPicPr>
          <p:cNvPr id="3" name="图片 2"/>
          <p:cNvPicPr>
            <a:picLocks noChangeAspect="1"/>
          </p:cNvPicPr>
          <p:nvPr/>
        </p:nvPicPr>
        <p:blipFill>
          <a:blip r:embed="rId2"/>
          <a:stretch>
            <a:fillRect/>
          </a:stretch>
        </p:blipFill>
        <p:spPr>
          <a:xfrm>
            <a:off x="0" y="1449070"/>
            <a:ext cx="9144000" cy="3959225"/>
          </a:xfrm>
          <a:prstGeom prst="rect">
            <a:avLst/>
          </a:prstGeom>
        </p:spPr>
      </p:pic>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key contributions</a:t>
            </a:r>
            <a:endParaRPr lang="en-US" altLang="zh-CN" dirty="0">
              <a:solidFill>
                <a:schemeClr val="bg1"/>
              </a:solidFill>
            </a:endParaRPr>
          </a:p>
        </p:txBody>
      </p:sp>
      <p:pic>
        <p:nvPicPr>
          <p:cNvPr id="3" name="图片 2"/>
          <p:cNvPicPr>
            <a:picLocks noChangeAspect="1"/>
          </p:cNvPicPr>
          <p:nvPr/>
        </p:nvPicPr>
        <p:blipFill>
          <a:blip r:embed="rId2"/>
          <a:stretch>
            <a:fillRect/>
          </a:stretch>
        </p:blipFill>
        <p:spPr>
          <a:xfrm>
            <a:off x="1449705" y="1306830"/>
            <a:ext cx="6244590" cy="4789170"/>
          </a:xfrm>
          <a:prstGeom prst="rect">
            <a:avLst/>
          </a:prstGeom>
        </p:spPr>
      </p:pic>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Framework</a:t>
            </a:r>
            <a:endParaRPr lang="zh-CN" altLang="en-US" dirty="0">
              <a:solidFill>
                <a:schemeClr val="bg1"/>
              </a:solidFill>
            </a:endParaRPr>
          </a:p>
        </p:txBody>
      </p:sp>
      <p:pic>
        <p:nvPicPr>
          <p:cNvPr id="3" name="图片 2"/>
          <p:cNvPicPr>
            <a:picLocks noChangeAspect="1"/>
          </p:cNvPicPr>
          <p:nvPr/>
        </p:nvPicPr>
        <p:blipFill>
          <a:blip r:embed="rId2"/>
          <a:stretch>
            <a:fillRect/>
          </a:stretch>
        </p:blipFill>
        <p:spPr>
          <a:xfrm>
            <a:off x="0" y="2016125"/>
            <a:ext cx="9144000" cy="2825115"/>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Method</a:t>
            </a:r>
            <a:endParaRPr lang="zh-CN" altLang="en-US" dirty="0">
              <a:solidFill>
                <a:schemeClr val="bg1"/>
              </a:solidFill>
            </a:endParaRPr>
          </a:p>
        </p:txBody>
      </p:sp>
      <p:sp>
        <p:nvSpPr>
          <p:cNvPr id="3" name="文本框 2"/>
          <p:cNvSpPr txBox="1"/>
          <p:nvPr/>
        </p:nvSpPr>
        <p:spPr>
          <a:xfrm>
            <a:off x="436245" y="2407920"/>
            <a:ext cx="4812665" cy="368300"/>
          </a:xfrm>
          <a:prstGeom prst="rect">
            <a:avLst/>
          </a:prstGeom>
          <a:noFill/>
        </p:spPr>
        <p:txBody>
          <a:bodyPr wrap="square" rtlCol="0">
            <a:spAutoFit/>
          </a:bodyPr>
          <a:lstStyle/>
          <a:p>
            <a:r>
              <a:rPr lang="en-US" altLang="zh-CN" b="1" dirty="0"/>
              <a:t>Cluster-level Aggregation </a:t>
            </a:r>
            <a:endParaRPr lang="en-US" altLang="zh-CN" b="1" dirty="0"/>
          </a:p>
        </p:txBody>
      </p:sp>
      <p:sp>
        <p:nvSpPr>
          <p:cNvPr id="17" name="文本框 16"/>
          <p:cNvSpPr txBox="1"/>
          <p:nvPr/>
        </p:nvSpPr>
        <p:spPr>
          <a:xfrm>
            <a:off x="436245" y="1141730"/>
            <a:ext cx="5060315" cy="368300"/>
          </a:xfrm>
          <a:prstGeom prst="rect">
            <a:avLst/>
          </a:prstGeom>
          <a:noFill/>
        </p:spPr>
        <p:txBody>
          <a:bodyPr wrap="square" rtlCol="0" anchor="t">
            <a:spAutoFit/>
          </a:bodyPr>
          <a:p>
            <a:r>
              <a:rPr lang="en-US" altLang="zh-CN" b="1"/>
              <a:t>Item-level Aggregation</a:t>
            </a:r>
            <a:endParaRPr lang="en-US" altLang="zh-CN" b="1"/>
          </a:p>
        </p:txBody>
      </p:sp>
      <p:pic>
        <p:nvPicPr>
          <p:cNvPr id="5" name="图片 4"/>
          <p:cNvPicPr>
            <a:picLocks noChangeAspect="1"/>
          </p:cNvPicPr>
          <p:nvPr/>
        </p:nvPicPr>
        <p:blipFill>
          <a:blip r:embed="rId2"/>
          <a:stretch>
            <a:fillRect/>
          </a:stretch>
        </p:blipFill>
        <p:spPr>
          <a:xfrm>
            <a:off x="3506470" y="1501140"/>
            <a:ext cx="2365375" cy="779780"/>
          </a:xfrm>
          <a:prstGeom prst="rect">
            <a:avLst/>
          </a:prstGeom>
        </p:spPr>
      </p:pic>
      <p:pic>
        <p:nvPicPr>
          <p:cNvPr id="9" name="图片 8"/>
          <p:cNvPicPr>
            <a:picLocks noChangeAspect="1"/>
          </p:cNvPicPr>
          <p:nvPr/>
        </p:nvPicPr>
        <p:blipFill>
          <a:blip r:embed="rId3"/>
          <a:stretch>
            <a:fillRect/>
          </a:stretch>
        </p:blipFill>
        <p:spPr>
          <a:xfrm>
            <a:off x="2813685" y="2973070"/>
            <a:ext cx="4720590" cy="478155"/>
          </a:xfrm>
          <a:prstGeom prst="rect">
            <a:avLst/>
          </a:prstGeom>
        </p:spPr>
      </p:pic>
      <p:pic>
        <p:nvPicPr>
          <p:cNvPr id="10" name="图片 9"/>
          <p:cNvPicPr>
            <a:picLocks noChangeAspect="1"/>
          </p:cNvPicPr>
          <p:nvPr/>
        </p:nvPicPr>
        <p:blipFill>
          <a:blip r:embed="rId4"/>
          <a:stretch>
            <a:fillRect/>
          </a:stretch>
        </p:blipFill>
        <p:spPr>
          <a:xfrm>
            <a:off x="3219450" y="3577590"/>
            <a:ext cx="3621405" cy="843280"/>
          </a:xfrm>
          <a:prstGeom prst="rect">
            <a:avLst/>
          </a:prstGeom>
        </p:spPr>
      </p:pic>
      <p:pic>
        <p:nvPicPr>
          <p:cNvPr id="11" name="图片 10"/>
          <p:cNvPicPr>
            <a:picLocks noChangeAspect="1"/>
          </p:cNvPicPr>
          <p:nvPr/>
        </p:nvPicPr>
        <p:blipFill>
          <a:blip r:embed="rId5"/>
          <a:stretch>
            <a:fillRect/>
          </a:stretch>
        </p:blipFill>
        <p:spPr>
          <a:xfrm>
            <a:off x="3813175" y="4420870"/>
            <a:ext cx="2433955" cy="755650"/>
          </a:xfrm>
          <a:prstGeom prst="rect">
            <a:avLst/>
          </a:prstGeom>
        </p:spPr>
      </p:pic>
      <p:sp>
        <p:nvSpPr>
          <p:cNvPr id="12" name="文本框 11"/>
          <p:cNvSpPr txBox="1"/>
          <p:nvPr/>
        </p:nvSpPr>
        <p:spPr>
          <a:xfrm>
            <a:off x="436245" y="5318760"/>
            <a:ext cx="4572000" cy="368300"/>
          </a:xfrm>
          <a:prstGeom prst="rect">
            <a:avLst/>
          </a:prstGeom>
          <a:noFill/>
        </p:spPr>
        <p:txBody>
          <a:bodyPr wrap="square" rtlCol="0" anchor="t">
            <a:spAutoFit/>
          </a:bodyPr>
          <a:p>
            <a:r>
              <a:rPr lang="en-US" altLang="zh-CN" b="1"/>
              <a:t>Fusion</a:t>
            </a:r>
            <a:endParaRPr lang="en-US" altLang="zh-CN" b="1"/>
          </a:p>
        </p:txBody>
      </p:sp>
      <p:pic>
        <p:nvPicPr>
          <p:cNvPr id="13" name="图片 12"/>
          <p:cNvPicPr>
            <a:picLocks noChangeAspect="1"/>
          </p:cNvPicPr>
          <p:nvPr/>
        </p:nvPicPr>
        <p:blipFill>
          <a:blip r:embed="rId6"/>
          <a:stretch>
            <a:fillRect/>
          </a:stretch>
        </p:blipFill>
        <p:spPr>
          <a:xfrm>
            <a:off x="3277235" y="5687060"/>
            <a:ext cx="3505200" cy="571500"/>
          </a:xfrm>
          <a:prstGeom prst="rect">
            <a:avLst/>
          </a:prstGeom>
        </p:spPr>
      </p:pic>
    </p:spTree>
    <p:custDataLst>
      <p:tags r:id="rId7"/>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Datasets</a:t>
            </a:r>
            <a:endParaRPr lang="en-US" altLang="zh-CN" dirty="0">
              <a:solidFill>
                <a:schemeClr val="bg1"/>
              </a:solidFill>
            </a:endParaRPr>
          </a:p>
        </p:txBody>
      </p:sp>
      <p:pic>
        <p:nvPicPr>
          <p:cNvPr id="4" name="图片 3"/>
          <p:cNvPicPr>
            <a:picLocks noChangeAspect="1"/>
          </p:cNvPicPr>
          <p:nvPr/>
        </p:nvPicPr>
        <p:blipFill>
          <a:blip r:embed="rId2"/>
          <a:stretch>
            <a:fillRect/>
          </a:stretch>
        </p:blipFill>
        <p:spPr>
          <a:xfrm>
            <a:off x="190500" y="1718945"/>
            <a:ext cx="8763000" cy="3419475"/>
          </a:xfrm>
          <a:prstGeom prst="rect">
            <a:avLst/>
          </a:prstGeom>
        </p:spPr>
      </p:pic>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4" name="图片 3"/>
          <p:cNvPicPr>
            <a:picLocks noChangeAspect="1"/>
          </p:cNvPicPr>
          <p:nvPr/>
        </p:nvPicPr>
        <p:blipFill>
          <a:blip r:embed="rId2"/>
          <a:stretch>
            <a:fillRect/>
          </a:stretch>
        </p:blipFill>
        <p:spPr>
          <a:xfrm>
            <a:off x="0" y="1149985"/>
            <a:ext cx="9144000" cy="4558030"/>
          </a:xfrm>
          <a:prstGeom prst="rect">
            <a:avLst/>
          </a:prstGeom>
        </p:spPr>
      </p:pic>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4" name="图片 3"/>
          <p:cNvPicPr>
            <a:picLocks noChangeAspect="1"/>
          </p:cNvPicPr>
          <p:nvPr/>
        </p:nvPicPr>
        <p:blipFill>
          <a:blip r:embed="rId2"/>
          <a:stretch>
            <a:fillRect/>
          </a:stretch>
        </p:blipFill>
        <p:spPr>
          <a:xfrm>
            <a:off x="0" y="1057910"/>
            <a:ext cx="9144000" cy="4741545"/>
          </a:xfrm>
          <a:prstGeom prst="rect">
            <a:avLst/>
          </a:prstGeom>
        </p:spPr>
      </p:pic>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3" name="图片 2"/>
          <p:cNvPicPr>
            <a:picLocks noChangeAspect="1"/>
          </p:cNvPicPr>
          <p:nvPr/>
        </p:nvPicPr>
        <p:blipFill>
          <a:blip r:embed="rId2"/>
          <a:stretch>
            <a:fillRect/>
          </a:stretch>
        </p:blipFill>
        <p:spPr>
          <a:xfrm>
            <a:off x="775970" y="1068070"/>
            <a:ext cx="7591425" cy="4848225"/>
          </a:xfrm>
          <a:prstGeom prst="rect">
            <a:avLst/>
          </a:prstGeom>
        </p:spPr>
      </p:pic>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4" name="图片 3"/>
          <p:cNvPicPr>
            <a:picLocks noChangeAspect="1"/>
          </p:cNvPicPr>
          <p:nvPr/>
        </p:nvPicPr>
        <p:blipFill>
          <a:blip r:embed="rId2"/>
          <a:stretch>
            <a:fillRect/>
          </a:stretch>
        </p:blipFill>
        <p:spPr>
          <a:xfrm>
            <a:off x="1671955" y="959485"/>
            <a:ext cx="5800090" cy="5499100"/>
          </a:xfrm>
          <a:prstGeom prst="rect">
            <a:avLst/>
          </a:prstGeom>
        </p:spPr>
      </p:pic>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3" name="图片 2"/>
          <p:cNvPicPr>
            <a:picLocks noChangeAspect="1"/>
          </p:cNvPicPr>
          <p:nvPr/>
        </p:nvPicPr>
        <p:blipFill>
          <a:blip r:embed="rId2"/>
          <a:stretch>
            <a:fillRect/>
          </a:stretch>
        </p:blipFill>
        <p:spPr>
          <a:xfrm>
            <a:off x="1301750" y="924560"/>
            <a:ext cx="6540500" cy="5439410"/>
          </a:xfrm>
          <a:prstGeom prst="rect">
            <a:avLst/>
          </a:prstGeom>
        </p:spPr>
      </p:pic>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3" name="图片 2"/>
          <p:cNvPicPr>
            <a:picLocks noChangeAspect="1"/>
          </p:cNvPicPr>
          <p:nvPr/>
        </p:nvPicPr>
        <p:blipFill>
          <a:blip r:embed="rId2"/>
          <a:stretch>
            <a:fillRect/>
          </a:stretch>
        </p:blipFill>
        <p:spPr>
          <a:xfrm>
            <a:off x="0" y="2085975"/>
            <a:ext cx="9144000" cy="2686050"/>
          </a:xfrm>
          <a:prstGeom prst="rect">
            <a:avLst/>
          </a:prstGeom>
        </p:spPr>
      </p:pic>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3" name="图片 2"/>
          <p:cNvPicPr>
            <a:picLocks noChangeAspect="1"/>
          </p:cNvPicPr>
          <p:nvPr/>
        </p:nvPicPr>
        <p:blipFill>
          <a:blip r:embed="rId2"/>
          <a:stretch>
            <a:fillRect/>
          </a:stretch>
        </p:blipFill>
        <p:spPr>
          <a:xfrm>
            <a:off x="0" y="2117090"/>
            <a:ext cx="9144000" cy="2623820"/>
          </a:xfrm>
          <a:prstGeom prst="rect">
            <a:avLst/>
          </a:prstGeom>
        </p:spPr>
      </p:pic>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4" name="图片 3"/>
          <p:cNvPicPr>
            <a:picLocks noChangeAspect="1"/>
          </p:cNvPicPr>
          <p:nvPr/>
        </p:nvPicPr>
        <p:blipFill>
          <a:blip r:embed="rId2"/>
          <a:stretch>
            <a:fillRect/>
          </a:stretch>
        </p:blipFill>
        <p:spPr>
          <a:xfrm>
            <a:off x="0" y="2093595"/>
            <a:ext cx="9144000" cy="2670810"/>
          </a:xfrm>
          <a:prstGeom prst="rect">
            <a:avLst/>
          </a:prstGeom>
        </p:spPr>
      </p:pic>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4" name="图片 3"/>
          <p:cNvPicPr>
            <a:picLocks noChangeAspect="1"/>
          </p:cNvPicPr>
          <p:nvPr/>
        </p:nvPicPr>
        <p:blipFill>
          <a:blip r:embed="rId2"/>
          <a:stretch>
            <a:fillRect/>
          </a:stretch>
        </p:blipFill>
        <p:spPr>
          <a:xfrm>
            <a:off x="1196975" y="1014095"/>
            <a:ext cx="6750685" cy="5273675"/>
          </a:xfrm>
          <a:prstGeom prst="rect">
            <a:avLst/>
          </a:prstGeom>
        </p:spPr>
      </p:pic>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3" name="图片 2"/>
          <p:cNvPicPr>
            <a:picLocks noChangeAspect="1"/>
          </p:cNvPicPr>
          <p:nvPr/>
        </p:nvPicPr>
        <p:blipFill>
          <a:blip r:embed="rId2"/>
          <a:stretch>
            <a:fillRect/>
          </a:stretch>
        </p:blipFill>
        <p:spPr>
          <a:xfrm>
            <a:off x="1576070" y="2371725"/>
            <a:ext cx="5991225" cy="2114550"/>
          </a:xfrm>
          <a:prstGeom prst="rect">
            <a:avLst/>
          </a:prstGeom>
        </p:spPr>
      </p:pic>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Experimental Evaluation</a:t>
            </a:r>
            <a:endParaRPr lang="zh-CN" altLang="en-US" dirty="0">
              <a:solidFill>
                <a:schemeClr val="bg1"/>
              </a:solidFill>
            </a:endParaRPr>
          </a:p>
        </p:txBody>
      </p:sp>
      <p:pic>
        <p:nvPicPr>
          <p:cNvPr id="4" name="图片 3"/>
          <p:cNvPicPr>
            <a:picLocks noChangeAspect="1"/>
          </p:cNvPicPr>
          <p:nvPr/>
        </p:nvPicPr>
        <p:blipFill>
          <a:blip r:embed="rId2"/>
          <a:stretch>
            <a:fillRect/>
          </a:stretch>
        </p:blipFill>
        <p:spPr>
          <a:xfrm>
            <a:off x="0" y="1510030"/>
            <a:ext cx="9144000" cy="3837940"/>
          </a:xfrm>
          <a:prstGeom prst="rect">
            <a:avLst/>
          </a:prstGeom>
        </p:spPr>
      </p:pic>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6675" y="69920"/>
            <a:ext cx="8226900" cy="705600"/>
          </a:xfrm>
        </p:spPr>
        <p:txBody>
          <a:bodyPr/>
          <a:lstStyle/>
          <a:p>
            <a:r>
              <a:rPr lang="en-US" altLang="zh-CN" dirty="0">
                <a:solidFill>
                  <a:schemeClr val="bg1"/>
                </a:solidFill>
              </a:rPr>
              <a:t>Idea</a:t>
            </a:r>
            <a:endParaRPr lang="zh-CN" altLang="en-US" dirty="0">
              <a:solidFill>
                <a:schemeClr val="bg1"/>
              </a:solidFill>
            </a:endParaRPr>
          </a:p>
        </p:txBody>
      </p:sp>
      <p:sp>
        <p:nvSpPr>
          <p:cNvPr id="6" name="文本框 5"/>
          <p:cNvSpPr txBox="1"/>
          <p:nvPr/>
        </p:nvSpPr>
        <p:spPr>
          <a:xfrm>
            <a:off x="92075" y="1725930"/>
            <a:ext cx="8960485" cy="711835"/>
          </a:xfrm>
          <a:prstGeom prst="rect">
            <a:avLst/>
          </a:prstGeom>
        </p:spPr>
        <p:txBody>
          <a:bodyPr>
            <a:noAutofit/>
          </a:bodyPr>
          <a:p>
            <a:pPr algn="just"/>
            <a:r>
              <a:rPr lang="en-US" altLang="zh-CN" sz="1600"/>
              <a:t>      </a:t>
            </a:r>
            <a:r>
              <a:rPr lang="zh-CN" altLang="en-US" sz="1600"/>
              <a:t>尝试引入了文中流行度感知的门控机制，</a:t>
            </a:r>
            <a:r>
              <a:rPr lang="zh-CN" altLang="en-US" sz="1600"/>
              <a:t>通过基于流行度的门控系数，在用户采样中提高 </a:t>
            </a:r>
            <a:r>
              <a:rPr lang="en-US" altLang="zh-CN" sz="1600"/>
              <a:t>cold </a:t>
            </a:r>
            <a:r>
              <a:rPr lang="en-US" altLang="zh-CN" sz="1600"/>
              <a:t>course </a:t>
            </a:r>
            <a:r>
              <a:rPr lang="zh-CN" altLang="en-US" sz="1600"/>
              <a:t>对</a:t>
            </a:r>
            <a:r>
              <a:rPr lang="zh-CN" altLang="en-US" sz="1600"/>
              <a:t>课程信号的依赖。</a:t>
            </a:r>
            <a:endParaRPr lang="zh-CN" altLang="en-US" sz="1600"/>
          </a:p>
        </p:txBody>
      </p:sp>
      <p:pic>
        <p:nvPicPr>
          <p:cNvPr id="3" name="图片 2"/>
          <p:cNvPicPr>
            <a:picLocks noChangeAspect="1"/>
          </p:cNvPicPr>
          <p:nvPr/>
        </p:nvPicPr>
        <p:blipFill>
          <a:blip r:embed="rId2"/>
          <a:stretch>
            <a:fillRect/>
          </a:stretch>
        </p:blipFill>
        <p:spPr>
          <a:xfrm>
            <a:off x="0" y="3042920"/>
            <a:ext cx="9144000" cy="940435"/>
          </a:xfrm>
          <a:prstGeom prst="rect">
            <a:avLst/>
          </a:prstGeom>
        </p:spPr>
      </p:pic>
      <p:sp>
        <p:nvSpPr>
          <p:cNvPr id="4" name="文本框 3"/>
          <p:cNvSpPr txBox="1"/>
          <p:nvPr/>
        </p:nvSpPr>
        <p:spPr>
          <a:xfrm>
            <a:off x="465455" y="2601595"/>
            <a:ext cx="3048000" cy="368935"/>
          </a:xfrm>
          <a:prstGeom prst="rect">
            <a:avLst/>
          </a:prstGeom>
          <a:noFill/>
        </p:spPr>
        <p:txBody>
          <a:bodyPr wrap="square" rtlCol="0">
            <a:noAutofit/>
          </a:bodyPr>
          <a:p>
            <a:r>
              <a:rPr lang="en-US" altLang="zh-CN"/>
              <a:t>MOOCCube</a:t>
            </a:r>
            <a:r>
              <a:rPr lang="zh-CN" altLang="en-US"/>
              <a:t>：</a:t>
            </a:r>
            <a:endParaRPr lang="zh-CN" altLang="en-US"/>
          </a:p>
        </p:txBody>
      </p:sp>
      <p:sp>
        <p:nvSpPr>
          <p:cNvPr id="5" name="文本框 4"/>
          <p:cNvSpPr txBox="1"/>
          <p:nvPr/>
        </p:nvSpPr>
        <p:spPr>
          <a:xfrm>
            <a:off x="465455" y="4101465"/>
            <a:ext cx="3048000" cy="368935"/>
          </a:xfrm>
          <a:prstGeom prst="rect">
            <a:avLst/>
          </a:prstGeom>
          <a:noFill/>
        </p:spPr>
        <p:txBody>
          <a:bodyPr wrap="square" rtlCol="0">
            <a:noAutofit/>
          </a:bodyPr>
          <a:p>
            <a:r>
              <a:rPr lang="en-US" altLang="zh-CN"/>
              <a:t>Junyi</a:t>
            </a:r>
            <a:r>
              <a:rPr lang="zh-CN" altLang="en-US"/>
              <a:t>：</a:t>
            </a:r>
            <a:endParaRPr lang="zh-CN" altLang="en-US"/>
          </a:p>
        </p:txBody>
      </p:sp>
      <p:pic>
        <p:nvPicPr>
          <p:cNvPr id="7" name="图片 6"/>
          <p:cNvPicPr>
            <a:picLocks noChangeAspect="1"/>
          </p:cNvPicPr>
          <p:nvPr/>
        </p:nvPicPr>
        <p:blipFill>
          <a:blip r:embed="rId3"/>
          <a:stretch>
            <a:fillRect/>
          </a:stretch>
        </p:blipFill>
        <p:spPr>
          <a:xfrm>
            <a:off x="0" y="4470400"/>
            <a:ext cx="9144000" cy="991870"/>
          </a:xfrm>
          <a:prstGeom prst="rect">
            <a:avLst/>
          </a:prstGeom>
        </p:spPr>
      </p:pic>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TEMPLATE_CATEGORY" val="custom"/>
  <p:tag name="KSO_WM_TEMPLATE_INDEX" val="20205081"/>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COMMONDATA" val="eyJoZGlkIjoiOTAyYmQwNDRmNDgwZWE0NWM4ZDNmZDE1MmYzZWI4MW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670</Words>
  <Application>WPS 演示</Application>
  <PresentationFormat>全屏显示(4:3)</PresentationFormat>
  <Paragraphs>58</Paragraphs>
  <Slides>19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宋体</vt:lpstr>
      <vt:lpstr>Wingdings</vt:lpstr>
      <vt:lpstr>Wingdings</vt:lpstr>
      <vt:lpstr>Times New Roman</vt:lpstr>
      <vt:lpstr>微软雅黑</vt:lpstr>
      <vt:lpstr>Arial Unicode MS</vt:lpstr>
      <vt:lpstr>Calibri</vt:lpstr>
      <vt:lpstr>WPS</vt:lpstr>
      <vt:lpstr>Title</vt:lpstr>
      <vt:lpstr>Abstract</vt:lpstr>
      <vt:lpstr>Motivation</vt:lpstr>
      <vt:lpstr>key contributions</vt:lpstr>
      <vt:lpstr>Framework</vt:lpstr>
      <vt:lpstr>Method</vt:lpstr>
      <vt:lpstr>Datasets</vt:lpstr>
      <vt:lpstr>Experimental Evaluation</vt:lpstr>
      <vt:lpstr>Experimental Evaluation</vt:lpstr>
      <vt:lpstr>Experimental Evaluation</vt:lpstr>
      <vt:lpstr>Experimental Evaluation</vt:lpstr>
      <vt:lpstr>Experimental Evaluation</vt:lpstr>
      <vt:lpstr>Experimental Evaluation</vt:lpstr>
      <vt:lpstr>Experimental Evaluation</vt:lpstr>
      <vt:lpstr>Experimental Evaluation</vt:lpstr>
      <vt:lpstr>Experimental Evaluation</vt:lpstr>
      <vt:lpstr>Experimental Evaluation</vt:lpstr>
      <vt:lpstr>Experimental Evaluation</vt:lpstr>
      <vt:lpstr>Idea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o_o</cp:lastModifiedBy>
  <cp:revision>436</cp:revision>
  <dcterms:created xsi:type="dcterms:W3CDTF">2019-06-19T02:08:00Z</dcterms:created>
  <dcterms:modified xsi:type="dcterms:W3CDTF">2026-07-06T11:08:08Z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5C3CCFF3E403473BA8D514EBBC46F456_13</vt:lpwstr>
  </property>
</Properties>
</file>