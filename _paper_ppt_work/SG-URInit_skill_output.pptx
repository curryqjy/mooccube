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8"/>
    <p:sldId id="257" r:id="rId9"/>
    <p:sldId id="258" r:id="rId10"/>
    <p:sldId id="259" r:id="rId11"/>
    <p:sldId id="260" r:id="rId12"/>
    <p:sldId id="261" r:id="rId7"/>
    <p:sldId id="262" r:id="rId6"/>
    <p:sldId id="263" r:id="rId5"/>
    <p:sldId id="264" r:id="rId3"/>
    <p:sldId id="265" r:id="rId17"/>
    <p:sldId id="266" r:id="rId18"/>
    <p:sldId id="267" r:id="rId19"/>
    <p:sldId id="268" r:id="rId20"/>
    <p:sldId id="269" r:id="rId21"/>
    <p:sldId id="270" r:id="rId22"/>
    <p:sldId id="271" r:id="rId23"/>
    <p:sldId id="272" r:id="rId24"/>
    <p:sldId id="273" r:id="rId25"/>
    <p:sldId id="274" r:id="rId26"/>
  </p:sldIdLst>
  <p:sldSz cx="9144000" cy="6858000" type="screen4x3"/>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0504D"/>
    <a:srgbClr val="AF4946"/>
    <a:srgbClr val="1C4372"/>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73" d="100"/>
          <a:sy n="73" d="100"/>
        </p:scale>
        <p:origin x="1747" y="53"/>
      </p:cViewPr>
      <p:guideLst>
        <p:guide orient="horz" pos="2105"/>
        <p:guide pos="288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9.xml"/><Relationship Id="rId4" Type="http://schemas.openxmlformats.org/officeDocument/2006/relationships/notesMaster" Target="notesMasters/notesMaster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 Id="rId16" Type="http://schemas.openxmlformats.org/officeDocument/2006/relationships/tags" Target="tags/tag72.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899100" y="914400"/>
            <a:ext cx="73494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899100" y="3560400"/>
            <a:ext cx="73494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456300" y="1490400"/>
            <a:ext cx="82269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493100" y="3848400"/>
            <a:ext cx="58266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493100" y="4615200"/>
            <a:ext cx="58266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456300" y="1501200"/>
            <a:ext cx="38826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4808700" y="1501200"/>
            <a:ext cx="38826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456300" y="1429200"/>
            <a:ext cx="40068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456300" y="1854000"/>
            <a:ext cx="40068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4676813" y="1421729"/>
            <a:ext cx="40068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4676813" y="1854000"/>
            <a:ext cx="40068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456300" y="1555200"/>
            <a:ext cx="3924808"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4762800" y="1555200"/>
            <a:ext cx="39204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7676100" y="914400"/>
            <a:ext cx="783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685800" y="914400"/>
            <a:ext cx="68769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456300" y="774000"/>
            <a:ext cx="82296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899100" y="2484000"/>
            <a:ext cx="73494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899100" y="3560400"/>
            <a:ext cx="73494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ags" Target="../tags/tag61.xml"/><Relationship Id="rId17" Type="http://schemas.openxmlformats.org/officeDocument/2006/relationships/tags" Target="../tags/tag62.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456300" y="608400"/>
            <a:ext cx="82269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456300" y="1490400"/>
            <a:ext cx="82269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459000" y="6314400"/>
            <a:ext cx="2025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000" y="6314400"/>
            <a:ext cx="297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6658200" y="6314400"/>
            <a:ext cx="2025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Title</a:t>
            </a:r>
          </a:p>
        </p:txBody>
      </p:sp>
      <p:sp>
        <p:nvSpPr>
          <p:cNvPr id="3" name="Content Placeholder 2"/>
          <p:cNvSpPr>
            <a:spLocks noGrp="1"/>
          </p:cNvSpPr>
          <p:nvPr>
            <p:ph idx="1"/>
          </p:nvPr>
        </p:nvSpPr>
        <p:spPr/>
        <p:txBody>
          <a:bodyPr/>
          <a:lstStyle/>
          <a:p/>
        </p:txBody>
      </p:sp>
      <p:pic>
        <p:nvPicPr>
          <p:cNvPr id="4" name="Picture 3" descr="slide01_image01.png"/>
          <p:cNvPicPr>
            <a:picLocks noChangeAspect="1"/>
          </p:cNvPicPr>
          <p:nvPr/>
        </p:nvPicPr>
        <p:blipFill>
          <a:blip r:embed="rId2"/>
          <a:stretch>
            <a:fillRect/>
          </a:stretch>
        </p:blipFill>
        <p:spPr>
          <a:xfrm>
            <a:off x="0" y="1279525"/>
            <a:ext cx="9144000" cy="4177665"/>
          </a:xfrm>
          <a:prstGeom prst="rect">
            <a:avLst/>
          </a:prstGeom>
        </p:spPr>
      </p:pic>
      <p:sp>
        <p:nvSpPr>
          <p:cNvPr id="5" name="TextBox 4"/>
          <p:cNvSpPr txBox="1"/>
          <p:nvPr/>
        </p:nvSpPr>
        <p:spPr>
          <a:xfrm>
            <a:off x="3829678" y="5671163"/>
            <a:ext cx="1141730" cy="368300"/>
          </a:xfrm>
          <a:prstGeom prst="rect">
            <a:avLst/>
          </a:prstGeom>
          <a:noFill/>
        </p:spPr>
        <p:txBody>
          <a:bodyPr wrap="square">
            <a:spAutoFit/>
          </a:bodyPr>
          <a:lstStyle/>
          <a:p>
            <a:r>
              <a:rPr sz="1400" b="0">
                <a:solidFill>
                  <a:srgbClr val="000000"/>
                </a:solidFill>
                <a:latin typeface="Microsoft YaHei"/>
              </a:rPr>
              <a:t>SIGIR '26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p:txBody>
      </p:sp>
      <p:pic>
        <p:nvPicPr>
          <p:cNvPr id="4" name="Picture 3" descr="slide02_image01.png"/>
          <p:cNvPicPr>
            <a:picLocks noChangeAspect="1"/>
          </p:cNvPicPr>
          <p:nvPr/>
        </p:nvPicPr>
        <p:blipFill>
          <a:blip r:embed="rId2"/>
          <a:stretch>
            <a:fillRect/>
          </a:stretch>
        </p:blipFill>
        <p:spPr>
          <a:xfrm>
            <a:off x="161925" y="867410"/>
            <a:ext cx="4600575" cy="5601970"/>
          </a:xfrm>
          <a:prstGeom prst="rect">
            <a:avLst/>
          </a:prstGeom>
        </p:spPr>
      </p:pic>
      <p:sp>
        <p:nvSpPr>
          <p:cNvPr id="5" name="TextBox 4"/>
          <p:cNvSpPr txBox="1"/>
          <p:nvPr/>
        </p:nvSpPr>
        <p:spPr>
          <a:xfrm>
            <a:off x="5633085" y="1113790"/>
            <a:ext cx="2814320" cy="368300"/>
          </a:xfrm>
          <a:prstGeom prst="rect">
            <a:avLst/>
          </a:prstGeom>
          <a:noFill/>
        </p:spPr>
        <p:txBody>
          <a:bodyPr wrap="square">
            <a:spAutoFit/>
          </a:bodyPr>
          <a:lstStyle/>
          <a:p>
            <a:r>
              <a:rPr sz="1400" b="0">
                <a:solidFill>
                  <a:srgbClr val="000000"/>
                </a:solidFill>
                <a:latin typeface="Microsoft YaHei"/>
              </a:rPr>
              <a:t>动机：</a:t>
            </a:r>
          </a:p>
        </p:txBody>
      </p:sp>
      <p:sp>
        <p:nvSpPr>
          <p:cNvPr id="6" name="TextBox 5"/>
          <p:cNvSpPr txBox="1"/>
          <p:nvPr/>
        </p:nvSpPr>
        <p:spPr>
          <a:xfrm>
            <a:off x="5633085" y="1562100"/>
            <a:ext cx="3378835" cy="4358005"/>
          </a:xfrm>
          <a:prstGeom prst="rect">
            <a:avLst/>
          </a:prstGeom>
          <a:noFill/>
        </p:spPr>
        <p:txBody>
          <a:bodyPr wrap="square">
            <a:spAutoFit/>
          </a:bodyPr>
          <a:lstStyle/>
          <a:p>
            <a:r>
              <a:rPr sz="1300" b="0">
                <a:solidFill>
                  <a:srgbClr val="000000"/>
                </a:solidFill>
                <a:latin typeface="Microsoft YaHei"/>
              </a:rPr>
              <a:t>    现有的多模态推荐方法往往忽视了用户表示初始化这一关键环节，与天然具备丰富模态信息的物品不同，用户本身缺乏此类固有信息。</a:t>
            </a:r>
          </a:p>
          <a:p>
            <a:r>
              <a:rPr sz="1300" b="0">
                <a:solidFill>
                  <a:srgbClr val="000000"/>
                </a:solidFill>
                <a:latin typeface="Microsoft YaHei"/>
              </a:rPr>
              <a:t>    基于有意义模态信息初始化的物品表示与随机初始化的用户表示之间存在显著的语义差异。</a:t>
            </a:r>
          </a:p>
          <a:p>
            <a:r>
              <a:rPr sz="1300" b="0">
                <a:solidFill>
                  <a:srgbClr val="000000"/>
                </a:solidFill>
                <a:latin typeface="Microsoft YaHei"/>
              </a:rPr>
              <a:t>    因此文章提出了一种语义保证的用户表征初始化方法（SG-URInit），SG-URInit 通过整合用户交互过的项目的模态特征及其对应聚类的全局特征，为每位用户构建初始表征。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a:t>
            </a:r>
          </a:p>
        </p:txBody>
      </p:sp>
      <p:sp>
        <p:nvSpPr>
          <p:cNvPr id="3" name="Content Placeholder 2"/>
          <p:cNvSpPr>
            <a:spLocks noGrp="1"/>
          </p:cNvSpPr>
          <p:nvPr>
            <p:ph idx="1"/>
          </p:nvPr>
        </p:nvSpPr>
        <p:spPr/>
        <p:txBody>
          <a:bodyPr/>
          <a:lstStyle/>
          <a:p/>
        </p:txBody>
      </p:sp>
      <p:pic>
        <p:nvPicPr>
          <p:cNvPr id="4" name="Picture 3" descr="slide03_image01.png"/>
          <p:cNvPicPr>
            <a:picLocks noChangeAspect="1"/>
          </p:cNvPicPr>
          <p:nvPr/>
        </p:nvPicPr>
        <p:blipFill>
          <a:blip r:embed="rId2"/>
          <a:stretch>
            <a:fillRect/>
          </a:stretch>
        </p:blipFill>
        <p:spPr>
          <a:xfrm>
            <a:off x="0" y="1449070"/>
            <a:ext cx="9144000" cy="395922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contributions</a:t>
            </a:r>
          </a:p>
        </p:txBody>
      </p:sp>
      <p:sp>
        <p:nvSpPr>
          <p:cNvPr id="3" name="Content Placeholder 2"/>
          <p:cNvSpPr>
            <a:spLocks noGrp="1"/>
          </p:cNvSpPr>
          <p:nvPr>
            <p:ph idx="1"/>
          </p:nvPr>
        </p:nvSpPr>
        <p:spPr/>
        <p:txBody>
          <a:bodyPr/>
          <a:lstStyle/>
          <a:p/>
        </p:txBody>
      </p:sp>
      <p:pic>
        <p:nvPicPr>
          <p:cNvPr id="4" name="Picture 3" descr="slide04_image01.png"/>
          <p:cNvPicPr>
            <a:picLocks noChangeAspect="1"/>
          </p:cNvPicPr>
          <p:nvPr/>
        </p:nvPicPr>
        <p:blipFill>
          <a:blip r:embed="rId2"/>
          <a:stretch>
            <a:fillRect/>
          </a:stretch>
        </p:blipFill>
        <p:spPr>
          <a:xfrm>
            <a:off x="1449705" y="1306830"/>
            <a:ext cx="6244590" cy="478917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Framework</a:t>
            </a:r>
          </a:p>
        </p:txBody>
      </p:sp>
      <p:sp>
        <p:nvSpPr>
          <p:cNvPr id="3" name="Content Placeholder 2"/>
          <p:cNvSpPr>
            <a:spLocks noGrp="1"/>
          </p:cNvSpPr>
          <p:nvPr>
            <p:ph idx="1"/>
          </p:nvPr>
        </p:nvSpPr>
        <p:spPr/>
        <p:txBody>
          <a:bodyPr/>
          <a:lstStyle/>
          <a:p/>
        </p:txBody>
      </p:sp>
      <p:pic>
        <p:nvPicPr>
          <p:cNvPr id="4" name="Picture 3" descr="slide05_image01.png"/>
          <p:cNvPicPr>
            <a:picLocks noChangeAspect="1"/>
          </p:cNvPicPr>
          <p:nvPr/>
        </p:nvPicPr>
        <p:blipFill>
          <a:blip r:embed="rId2"/>
          <a:stretch>
            <a:fillRect/>
          </a:stretch>
        </p:blipFill>
        <p:spPr>
          <a:xfrm>
            <a:off x="0" y="2016125"/>
            <a:ext cx="9144000" cy="282511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a:t>
            </a:r>
          </a:p>
        </p:txBody>
      </p:sp>
      <p:sp>
        <p:nvSpPr>
          <p:cNvPr id="3" name="Content Placeholder 2"/>
          <p:cNvSpPr>
            <a:spLocks noGrp="1"/>
          </p:cNvSpPr>
          <p:nvPr>
            <p:ph idx="1"/>
          </p:nvPr>
        </p:nvSpPr>
        <p:spPr/>
        <p:txBody>
          <a:bodyPr/>
          <a:lstStyle/>
          <a:p/>
        </p:txBody>
      </p:sp>
      <p:pic>
        <p:nvPicPr>
          <p:cNvPr id="4" name="Picture 3" descr="slide06_image01.png"/>
          <p:cNvPicPr>
            <a:picLocks noChangeAspect="1"/>
          </p:cNvPicPr>
          <p:nvPr/>
        </p:nvPicPr>
        <p:blipFill>
          <a:blip r:embed="rId2"/>
          <a:stretch>
            <a:fillRect/>
          </a:stretch>
        </p:blipFill>
        <p:spPr>
          <a:xfrm>
            <a:off x="3506470" y="1501140"/>
            <a:ext cx="2365375" cy="779780"/>
          </a:xfrm>
          <a:prstGeom prst="rect">
            <a:avLst/>
          </a:prstGeom>
        </p:spPr>
      </p:pic>
      <p:pic>
        <p:nvPicPr>
          <p:cNvPr id="5" name="Picture 4" descr="slide06_image02.png"/>
          <p:cNvPicPr>
            <a:picLocks noChangeAspect="1"/>
          </p:cNvPicPr>
          <p:nvPr/>
        </p:nvPicPr>
        <p:blipFill>
          <a:blip r:embed="rId3"/>
          <a:stretch>
            <a:fillRect/>
          </a:stretch>
        </p:blipFill>
        <p:spPr>
          <a:xfrm>
            <a:off x="2813685" y="2973070"/>
            <a:ext cx="4720590" cy="478155"/>
          </a:xfrm>
          <a:prstGeom prst="rect">
            <a:avLst/>
          </a:prstGeom>
        </p:spPr>
      </p:pic>
      <p:pic>
        <p:nvPicPr>
          <p:cNvPr id="6" name="Picture 5" descr="slide06_image03.png"/>
          <p:cNvPicPr>
            <a:picLocks noChangeAspect="1"/>
          </p:cNvPicPr>
          <p:nvPr/>
        </p:nvPicPr>
        <p:blipFill>
          <a:blip r:embed="rId4"/>
          <a:stretch>
            <a:fillRect/>
          </a:stretch>
        </p:blipFill>
        <p:spPr>
          <a:xfrm>
            <a:off x="3219450" y="3577590"/>
            <a:ext cx="3621405" cy="843280"/>
          </a:xfrm>
          <a:prstGeom prst="rect">
            <a:avLst/>
          </a:prstGeom>
        </p:spPr>
      </p:pic>
      <p:pic>
        <p:nvPicPr>
          <p:cNvPr id="7" name="Picture 6" descr="slide06_image04.png"/>
          <p:cNvPicPr>
            <a:picLocks noChangeAspect="1"/>
          </p:cNvPicPr>
          <p:nvPr/>
        </p:nvPicPr>
        <p:blipFill>
          <a:blip r:embed="rId5"/>
          <a:stretch>
            <a:fillRect/>
          </a:stretch>
        </p:blipFill>
        <p:spPr>
          <a:xfrm>
            <a:off x="3813175" y="4420870"/>
            <a:ext cx="2433955" cy="755650"/>
          </a:xfrm>
          <a:prstGeom prst="rect">
            <a:avLst/>
          </a:prstGeom>
        </p:spPr>
      </p:pic>
      <p:pic>
        <p:nvPicPr>
          <p:cNvPr id="8" name="Picture 7" descr="slide06_image05.png"/>
          <p:cNvPicPr>
            <a:picLocks noChangeAspect="1"/>
          </p:cNvPicPr>
          <p:nvPr/>
        </p:nvPicPr>
        <p:blipFill>
          <a:blip r:embed="rId6"/>
          <a:stretch>
            <a:fillRect/>
          </a:stretch>
        </p:blipFill>
        <p:spPr>
          <a:xfrm>
            <a:off x="3277235" y="5687060"/>
            <a:ext cx="3505200" cy="571500"/>
          </a:xfrm>
          <a:prstGeom prst="rect">
            <a:avLst/>
          </a:prstGeom>
        </p:spPr>
      </p:pic>
      <p:sp>
        <p:nvSpPr>
          <p:cNvPr id="9" name="TextBox 8"/>
          <p:cNvSpPr txBox="1"/>
          <p:nvPr/>
        </p:nvSpPr>
        <p:spPr>
          <a:xfrm>
            <a:off x="436245" y="1141730"/>
            <a:ext cx="5060315" cy="368300"/>
          </a:xfrm>
          <a:prstGeom prst="rect">
            <a:avLst/>
          </a:prstGeom>
          <a:noFill/>
        </p:spPr>
        <p:txBody>
          <a:bodyPr wrap="square">
            <a:spAutoFit/>
          </a:bodyPr>
          <a:lstStyle/>
          <a:p>
            <a:r>
              <a:rPr sz="1400" b="1">
                <a:solidFill>
                  <a:srgbClr val="000000"/>
                </a:solidFill>
                <a:latin typeface="Microsoft YaHei"/>
              </a:rPr>
              <a:t>Item-level Aggregation</a:t>
            </a:r>
          </a:p>
        </p:txBody>
      </p:sp>
      <p:sp>
        <p:nvSpPr>
          <p:cNvPr id="10" name="TextBox 9"/>
          <p:cNvSpPr txBox="1"/>
          <p:nvPr/>
        </p:nvSpPr>
        <p:spPr>
          <a:xfrm>
            <a:off x="436245" y="2407920"/>
            <a:ext cx="4812665" cy="368300"/>
          </a:xfrm>
          <a:prstGeom prst="rect">
            <a:avLst/>
          </a:prstGeom>
          <a:noFill/>
        </p:spPr>
        <p:txBody>
          <a:bodyPr wrap="square">
            <a:spAutoFit/>
          </a:bodyPr>
          <a:lstStyle/>
          <a:p>
            <a:r>
              <a:rPr sz="1400" b="1">
                <a:solidFill>
                  <a:srgbClr val="000000"/>
                </a:solidFill>
                <a:latin typeface="Microsoft YaHei"/>
              </a:rPr>
              <a:t>Cluster-level Aggregation</a:t>
            </a:r>
          </a:p>
        </p:txBody>
      </p:sp>
      <p:sp>
        <p:nvSpPr>
          <p:cNvPr id="11" name="TextBox 10"/>
          <p:cNvSpPr txBox="1"/>
          <p:nvPr/>
        </p:nvSpPr>
        <p:spPr>
          <a:xfrm>
            <a:off x="436245" y="5318760"/>
            <a:ext cx="4572000" cy="368300"/>
          </a:xfrm>
          <a:prstGeom prst="rect">
            <a:avLst/>
          </a:prstGeom>
          <a:noFill/>
        </p:spPr>
        <p:txBody>
          <a:bodyPr wrap="square">
            <a:spAutoFit/>
          </a:bodyPr>
          <a:lstStyle/>
          <a:p>
            <a:r>
              <a:rPr sz="1400" b="1">
                <a:solidFill>
                  <a:srgbClr val="000000"/>
                </a:solidFill>
                <a:latin typeface="Microsoft YaHei"/>
              </a:rPr>
              <a:t>Fusion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Datasets</a:t>
            </a:r>
          </a:p>
        </p:txBody>
      </p:sp>
      <p:sp>
        <p:nvSpPr>
          <p:cNvPr id="3" name="Content Placeholder 2"/>
          <p:cNvSpPr>
            <a:spLocks noGrp="1"/>
          </p:cNvSpPr>
          <p:nvPr>
            <p:ph idx="1"/>
          </p:nvPr>
        </p:nvSpPr>
        <p:spPr/>
        <p:txBody>
          <a:bodyPr/>
          <a:lstStyle/>
          <a:p/>
        </p:txBody>
      </p:sp>
      <p:pic>
        <p:nvPicPr>
          <p:cNvPr id="4" name="Picture 3" descr="slide07_image01.png"/>
          <p:cNvPicPr>
            <a:picLocks noChangeAspect="1"/>
          </p:cNvPicPr>
          <p:nvPr/>
        </p:nvPicPr>
        <p:blipFill>
          <a:blip r:embed="rId2"/>
          <a:stretch>
            <a:fillRect/>
          </a:stretch>
        </p:blipFill>
        <p:spPr>
          <a:xfrm>
            <a:off x="190500" y="1718945"/>
            <a:ext cx="8763000" cy="341947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08_image01.png"/>
          <p:cNvPicPr>
            <a:picLocks noChangeAspect="1"/>
          </p:cNvPicPr>
          <p:nvPr/>
        </p:nvPicPr>
        <p:blipFill>
          <a:blip r:embed="rId2"/>
          <a:stretch>
            <a:fillRect/>
          </a:stretch>
        </p:blipFill>
        <p:spPr>
          <a:xfrm>
            <a:off x="0" y="1149985"/>
            <a:ext cx="9144000" cy="45580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09_image01.png"/>
          <p:cNvPicPr>
            <a:picLocks noChangeAspect="1"/>
          </p:cNvPicPr>
          <p:nvPr/>
        </p:nvPicPr>
        <p:blipFill>
          <a:blip r:embed="rId2"/>
          <a:stretch>
            <a:fillRect/>
          </a:stretch>
        </p:blipFill>
        <p:spPr>
          <a:xfrm>
            <a:off x="0" y="1057910"/>
            <a:ext cx="9144000" cy="474154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10_image01.png"/>
          <p:cNvPicPr>
            <a:picLocks noChangeAspect="1"/>
          </p:cNvPicPr>
          <p:nvPr/>
        </p:nvPicPr>
        <p:blipFill>
          <a:blip r:embed="rId2"/>
          <a:stretch>
            <a:fillRect/>
          </a:stretch>
        </p:blipFill>
        <p:spPr>
          <a:xfrm>
            <a:off x="775970" y="1068070"/>
            <a:ext cx="7591425" cy="484822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11_image01.png"/>
          <p:cNvPicPr>
            <a:picLocks noChangeAspect="1"/>
          </p:cNvPicPr>
          <p:nvPr/>
        </p:nvPicPr>
        <p:blipFill>
          <a:blip r:embed="rId2"/>
          <a:stretch>
            <a:fillRect/>
          </a:stretch>
        </p:blipFill>
        <p:spPr>
          <a:xfrm>
            <a:off x="1671955" y="959485"/>
            <a:ext cx="5800090" cy="54991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12_image01.png"/>
          <p:cNvPicPr>
            <a:picLocks noChangeAspect="1"/>
          </p:cNvPicPr>
          <p:nvPr/>
        </p:nvPicPr>
        <p:blipFill>
          <a:blip r:embed="rId2"/>
          <a:stretch>
            <a:fillRect/>
          </a:stretch>
        </p:blipFill>
        <p:spPr>
          <a:xfrm>
            <a:off x="1301750" y="924560"/>
            <a:ext cx="6540500" cy="543941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13_image01.png"/>
          <p:cNvPicPr>
            <a:picLocks noChangeAspect="1"/>
          </p:cNvPicPr>
          <p:nvPr/>
        </p:nvPicPr>
        <p:blipFill>
          <a:blip r:embed="rId2"/>
          <a:stretch>
            <a:fillRect/>
          </a:stretch>
        </p:blipFill>
        <p:spPr>
          <a:xfrm>
            <a:off x="0" y="2085975"/>
            <a:ext cx="9144000" cy="268605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14_image01.png"/>
          <p:cNvPicPr>
            <a:picLocks noChangeAspect="1"/>
          </p:cNvPicPr>
          <p:nvPr/>
        </p:nvPicPr>
        <p:blipFill>
          <a:blip r:embed="rId2"/>
          <a:stretch>
            <a:fillRect/>
          </a:stretch>
        </p:blipFill>
        <p:spPr>
          <a:xfrm>
            <a:off x="0" y="2117090"/>
            <a:ext cx="9144000" cy="26238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15_image01.png"/>
          <p:cNvPicPr>
            <a:picLocks noChangeAspect="1"/>
          </p:cNvPicPr>
          <p:nvPr/>
        </p:nvPicPr>
        <p:blipFill>
          <a:blip r:embed="rId2"/>
          <a:stretch>
            <a:fillRect/>
          </a:stretch>
        </p:blipFill>
        <p:spPr>
          <a:xfrm>
            <a:off x="0" y="2093595"/>
            <a:ext cx="9144000" cy="267081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16_image01.png"/>
          <p:cNvPicPr>
            <a:picLocks noChangeAspect="1"/>
          </p:cNvPicPr>
          <p:nvPr/>
        </p:nvPicPr>
        <p:blipFill>
          <a:blip r:embed="rId2"/>
          <a:stretch>
            <a:fillRect/>
          </a:stretch>
        </p:blipFill>
        <p:spPr>
          <a:xfrm>
            <a:off x="1196975" y="1014095"/>
            <a:ext cx="6750685" cy="527367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17_image01.png"/>
          <p:cNvPicPr>
            <a:picLocks noChangeAspect="1"/>
          </p:cNvPicPr>
          <p:nvPr/>
        </p:nvPicPr>
        <p:blipFill>
          <a:blip r:embed="rId2"/>
          <a:stretch>
            <a:fillRect/>
          </a:stretch>
        </p:blipFill>
        <p:spPr>
          <a:xfrm>
            <a:off x="1576070" y="2371725"/>
            <a:ext cx="5991225" cy="211455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Evaluation</a:t>
            </a:r>
          </a:p>
        </p:txBody>
      </p:sp>
      <p:sp>
        <p:nvSpPr>
          <p:cNvPr id="3" name="Content Placeholder 2"/>
          <p:cNvSpPr>
            <a:spLocks noGrp="1"/>
          </p:cNvSpPr>
          <p:nvPr>
            <p:ph idx="1"/>
          </p:nvPr>
        </p:nvSpPr>
        <p:spPr/>
        <p:txBody>
          <a:bodyPr/>
          <a:lstStyle/>
          <a:p/>
        </p:txBody>
      </p:sp>
      <p:pic>
        <p:nvPicPr>
          <p:cNvPr id="4" name="Picture 3" descr="slide18_image01.png"/>
          <p:cNvPicPr>
            <a:picLocks noChangeAspect="1"/>
          </p:cNvPicPr>
          <p:nvPr/>
        </p:nvPicPr>
        <p:blipFill>
          <a:blip r:embed="rId2"/>
          <a:stretch>
            <a:fillRect/>
          </a:stretch>
        </p:blipFill>
        <p:spPr>
          <a:xfrm>
            <a:off x="0" y="1510030"/>
            <a:ext cx="9144000" cy="38379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Idea</a:t>
            </a:r>
          </a:p>
        </p:txBody>
      </p:sp>
      <p:sp>
        <p:nvSpPr>
          <p:cNvPr id="3" name="Content Placeholder 2"/>
          <p:cNvSpPr>
            <a:spLocks noGrp="1"/>
          </p:cNvSpPr>
          <p:nvPr>
            <p:ph idx="1"/>
          </p:nvPr>
        </p:nvSpPr>
        <p:spPr/>
        <p:txBody>
          <a:bodyPr/>
          <a:lstStyle/>
          <a:p/>
        </p:txBody>
      </p:sp>
      <p:pic>
        <p:nvPicPr>
          <p:cNvPr id="4" name="Picture 3" descr="slide16_image01.png"/>
          <p:cNvPicPr>
            <a:picLocks noChangeAspect="1"/>
          </p:cNvPicPr>
          <p:nvPr/>
        </p:nvPicPr>
        <p:blipFill>
          <a:blip r:embed="rId2"/>
          <a:stretch>
            <a:fillRect/>
          </a:stretch>
        </p:blipFill>
        <p:spPr>
          <a:xfrm>
            <a:off x="0" y="3042920"/>
            <a:ext cx="9144000" cy="940435"/>
          </a:xfrm>
          <a:prstGeom prst="rect">
            <a:avLst/>
          </a:prstGeom>
        </p:spPr>
      </p:pic>
      <p:pic>
        <p:nvPicPr>
          <p:cNvPr id="5" name="Picture 4" descr="slide17_image01.png"/>
          <p:cNvPicPr>
            <a:picLocks noChangeAspect="1"/>
          </p:cNvPicPr>
          <p:nvPr/>
        </p:nvPicPr>
        <p:blipFill>
          <a:blip r:embed="rId3"/>
          <a:stretch>
            <a:fillRect/>
          </a:stretch>
        </p:blipFill>
        <p:spPr>
          <a:xfrm>
            <a:off x="0" y="4470400"/>
            <a:ext cx="9144000" cy="991870"/>
          </a:xfrm>
          <a:prstGeom prst="rect">
            <a:avLst/>
          </a:prstGeom>
        </p:spPr>
      </p:pic>
      <p:sp>
        <p:nvSpPr>
          <p:cNvPr id="6" name="TextBox 5"/>
          <p:cNvSpPr txBox="1"/>
          <p:nvPr/>
        </p:nvSpPr>
        <p:spPr>
          <a:xfrm>
            <a:off x="92075" y="1725930"/>
            <a:ext cx="8960485" cy="711835"/>
          </a:xfrm>
          <a:prstGeom prst="rect">
            <a:avLst/>
          </a:prstGeom>
          <a:noFill/>
        </p:spPr>
        <p:txBody>
          <a:bodyPr wrap="square">
            <a:spAutoFit/>
          </a:bodyPr>
          <a:lstStyle/>
          <a:p>
            <a:r>
              <a:rPr sz="1400" b="0">
                <a:solidFill>
                  <a:srgbClr val="000000"/>
                </a:solidFill>
                <a:latin typeface="Microsoft YaHei"/>
              </a:rPr>
              <a:t>      尝试引入了文中流行度感知的门控机制，通过基于流行度的门控系数，在用户采样中提高 cold course 对课程信号的依赖。</a:t>
            </a:r>
          </a:p>
        </p:txBody>
      </p:sp>
      <p:sp>
        <p:nvSpPr>
          <p:cNvPr id="7" name="TextBox 6"/>
          <p:cNvSpPr txBox="1"/>
          <p:nvPr/>
        </p:nvSpPr>
        <p:spPr>
          <a:xfrm>
            <a:off x="465455" y="2601595"/>
            <a:ext cx="3048000" cy="368935"/>
          </a:xfrm>
          <a:prstGeom prst="rect">
            <a:avLst/>
          </a:prstGeom>
          <a:noFill/>
        </p:spPr>
        <p:txBody>
          <a:bodyPr wrap="square">
            <a:spAutoFit/>
          </a:bodyPr>
          <a:lstStyle/>
          <a:p>
            <a:r>
              <a:rPr sz="1400" b="0">
                <a:solidFill>
                  <a:srgbClr val="000000"/>
                </a:solidFill>
                <a:latin typeface="Microsoft YaHei"/>
              </a:rPr>
              <a:t>MOOCCube：</a:t>
            </a:r>
          </a:p>
        </p:txBody>
      </p:sp>
      <p:sp>
        <p:nvSpPr>
          <p:cNvPr id="8" name="TextBox 7"/>
          <p:cNvSpPr txBox="1"/>
          <p:nvPr/>
        </p:nvSpPr>
        <p:spPr>
          <a:xfrm>
            <a:off x="465455" y="4101465"/>
            <a:ext cx="3048000" cy="368935"/>
          </a:xfrm>
          <a:prstGeom prst="rect">
            <a:avLst/>
          </a:prstGeom>
          <a:noFill/>
        </p:spPr>
        <p:txBody>
          <a:bodyPr wrap="square">
            <a:spAutoFit/>
          </a:bodyPr>
          <a:lstStyle/>
          <a:p>
            <a:r>
              <a:rPr sz="1400" b="0">
                <a:solidFill>
                  <a:srgbClr val="000000"/>
                </a:solidFill>
                <a:latin typeface="Microsoft YaHei"/>
              </a:rPr>
              <a:t>Junyi：</a:t>
            </a: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2.xml><?xml version="1.0" encoding="utf-8"?>
<p:tagLst xmlns:p="http://schemas.openxmlformats.org/presentationml/2006/main">
  <p:tag name="COMMONDATA" val="eyJoZGlkIjoiOTAyYmQwNDRmNDgwZWE0NWM4ZDNmZDE1MmYzZWI4MW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Words>
  <Application>WPS 演示</Application>
  <PresentationFormat>全屏显示(4:3)</PresentationFormat>
  <Paragraphs>20</Paragraphs>
  <Slides>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宋体</vt:lpstr>
      <vt:lpstr>Wingdings</vt:lpstr>
      <vt:lpstr>Wingdings</vt:lpstr>
      <vt:lpstr>Times New Roman</vt:lpstr>
      <vt:lpstr>微软雅黑</vt:lpstr>
      <vt:lpstr>Arial Unicode MS</vt:lpstr>
      <vt:lpstr>Calibri</vt:lpstr>
      <vt:lpstr>WPS</vt:lpstr>
      <vt:lpstr>Title</vt:lpstr>
      <vt:lpstr>Abstract</vt:lpstr>
      <vt:lpstr>key contributions</vt:lpstr>
      <vt:lpstr>Framework</vt:lpstr>
      <vt:lpstr>Method</vt:lpstr>
      <vt:lpstr>Method</vt:lpstr>
      <vt:lpstr>Datasets</vt:lpstr>
      <vt:lpstr>Experimental Evaluation</vt:lpstr>
      <vt:lpstr>Idea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o_o</cp:lastModifiedBy>
  <cp:revision>405</cp:revision>
  <dcterms:created xsi:type="dcterms:W3CDTF">2019-06-19T02:08:00Z</dcterms:created>
  <dcterms:modified xsi:type="dcterms:W3CDTF">2026-07-06T11:10:28Z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D168EC3F916C4218827EF4C0FD3A01D2_13</vt:lpwstr>
  </property>
</Properties>
</file>