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43" r:id="rId17"/>
    <p:sldId id="344" r:id="rId18"/>
    <p:sldId id="345" r:id="rId19"/>
    <p:sldId id="346" r:id="rId20"/>
    <p:sldId id="347" r:id="rId21"/>
    <p:sldId id="348" r:id="rId22"/>
    <p:sldId id="349" r:id="rId23"/>
    <p:sldId id="350" r:id="rId24"/>
    <p:sldId id="351" r:id="rId25"/>
    <p:sldId id="352" r:id="rId26"/>
    <p:sldId id="353" r:id="rId27"/>
    <p:sldId id="354" r:id="rId28"/>
    <p:sldId id="355" r:id="rId29"/>
    <p:sldId id="356" r:id="rId30"/>
    <p:sldId id="357" r:id="rId31"/>
    <p:sldId id="358" r:id="rId32"/>
    <p:sldId id="359" r:id="rId33"/>
    <p:sldId id="360" r:id="rId34"/>
    <p:sldId id="361" r:id="rId35"/>
  </p:sldIdLst>
  <p:sldSz cx="9144000" cy="6858000" type="screen4x3"/>
  <p:notesSz cx="6858000" cy="9144000"/>
  <p:custDataLst>
    <p:tags r:id="rId1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05"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C0504D"/>
    <a:srgbClr val="AF4946"/>
    <a:srgbClr val="1C4372"/>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73" d="100"/>
          <a:sy n="73" d="100"/>
        </p:scale>
        <p:origin x="1747" y="53"/>
      </p:cViewPr>
      <p:guideLst>
        <p:guide orient="horz" pos="2105"/>
        <p:guide pos="288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4"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ableStyles" Target="tableStyles.xml"/><Relationship Id="rId16" Type="http://schemas.openxmlformats.org/officeDocument/2006/relationships/tags" Target="tags/tag72.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xml"/><Relationship Id="rId3" Type="http://schemas.openxmlformats.org/officeDocument/2006/relationships/tags" Target="../tags/tag2.xml"/><Relationship Id="rId4" Type="http://schemas.openxmlformats.org/officeDocument/2006/relationships/tags" Target="../tags/tag3.xml"/><Relationship Id="rId5" Type="http://schemas.openxmlformats.org/officeDocument/2006/relationships/tags" Target="../tags/tag4.xml"/><Relationship Id="rId6" Type="http://schemas.openxmlformats.org/officeDocument/2006/relationships/tags" Target="../tags/tag5.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6.xml"/><Relationship Id="rId3" Type="http://schemas.openxmlformats.org/officeDocument/2006/relationships/tags" Target="../tags/tag7.xml"/><Relationship Id="rId4" Type="http://schemas.openxmlformats.org/officeDocument/2006/relationships/tags" Target="../tags/tag8.xml"/><Relationship Id="rId5" Type="http://schemas.openxmlformats.org/officeDocument/2006/relationships/tags" Target="../tags/tag9.xml"/><Relationship Id="rId6" Type="http://schemas.openxmlformats.org/officeDocument/2006/relationships/tags" Target="../tags/tag10.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1.xml"/><Relationship Id="rId3" Type="http://schemas.openxmlformats.org/officeDocument/2006/relationships/tags" Target="../tags/tag12.xml"/><Relationship Id="rId4" Type="http://schemas.openxmlformats.org/officeDocument/2006/relationships/tags" Target="../tags/tag13.xml"/><Relationship Id="rId5" Type="http://schemas.openxmlformats.org/officeDocument/2006/relationships/tags" Target="../tags/tag14.xml"/><Relationship Id="rId6" Type="http://schemas.openxmlformats.org/officeDocument/2006/relationships/tags" Target="../tags/tag15.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6.xml"/><Relationship Id="rId3" Type="http://schemas.openxmlformats.org/officeDocument/2006/relationships/tags" Target="../tags/tag17.xml"/><Relationship Id="rId4" Type="http://schemas.openxmlformats.org/officeDocument/2006/relationships/tags" Target="../tags/tag18.xml"/><Relationship Id="rId5" Type="http://schemas.openxmlformats.org/officeDocument/2006/relationships/tags" Target="../tags/tag19.xml"/><Relationship Id="rId6" Type="http://schemas.openxmlformats.org/officeDocument/2006/relationships/tags" Target="../tags/tag20.xml"/><Relationship Id="rId7" Type="http://schemas.openxmlformats.org/officeDocument/2006/relationships/tags" Target="../tags/tag2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22.xml"/><Relationship Id="rId3" Type="http://schemas.openxmlformats.org/officeDocument/2006/relationships/tags" Target="../tags/tag23.xml"/><Relationship Id="rId4" Type="http://schemas.openxmlformats.org/officeDocument/2006/relationships/tags" Target="../tags/tag24.xml"/><Relationship Id="rId5" Type="http://schemas.openxmlformats.org/officeDocument/2006/relationships/tags" Target="../tags/tag25.xml"/><Relationship Id="rId6" Type="http://schemas.openxmlformats.org/officeDocument/2006/relationships/tags" Target="../tags/tag26.xml"/><Relationship Id="rId7" Type="http://schemas.openxmlformats.org/officeDocument/2006/relationships/tags" Target="../tags/tag27.xml"/><Relationship Id="rId8" Type="http://schemas.openxmlformats.org/officeDocument/2006/relationships/tags" Target="../tags/tag28.xml"/><Relationship Id="rId9" Type="http://schemas.openxmlformats.org/officeDocument/2006/relationships/tags" Target="../tags/tag29.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30.xml"/><Relationship Id="rId3" Type="http://schemas.openxmlformats.org/officeDocument/2006/relationships/tags" Target="../tags/tag31.xml"/><Relationship Id="rId4" Type="http://schemas.openxmlformats.org/officeDocument/2006/relationships/tags" Target="../tags/tag32.xml"/><Relationship Id="rId5" Type="http://schemas.openxmlformats.org/officeDocument/2006/relationships/tags" Target="../tags/tag3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34.xml"/><Relationship Id="rId3" Type="http://schemas.openxmlformats.org/officeDocument/2006/relationships/tags" Target="../tags/tag35.xml"/><Relationship Id="rId4" Type="http://schemas.openxmlformats.org/officeDocument/2006/relationships/tags" Target="../tags/tag3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37.xml"/><Relationship Id="rId3" Type="http://schemas.openxmlformats.org/officeDocument/2006/relationships/tags" Target="../tags/tag38.xml"/><Relationship Id="rId4" Type="http://schemas.openxmlformats.org/officeDocument/2006/relationships/tags" Target="../tags/tag39.xml"/><Relationship Id="rId5" Type="http://schemas.openxmlformats.org/officeDocument/2006/relationships/tags" Target="../tags/tag40.xml"/><Relationship Id="rId6" Type="http://schemas.openxmlformats.org/officeDocument/2006/relationships/tags" Target="../tags/tag41.xml"/><Relationship Id="rId7" Type="http://schemas.openxmlformats.org/officeDocument/2006/relationships/tags" Target="../tags/tag4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43.xml"/><Relationship Id="rId3" Type="http://schemas.openxmlformats.org/officeDocument/2006/relationships/tags" Target="../tags/tag44.xml"/><Relationship Id="rId4" Type="http://schemas.openxmlformats.org/officeDocument/2006/relationships/tags" Target="../tags/tag45.xml"/><Relationship Id="rId5" Type="http://schemas.openxmlformats.org/officeDocument/2006/relationships/tags" Target="../tags/tag46.xml"/><Relationship Id="rId6" Type="http://schemas.openxmlformats.org/officeDocument/2006/relationships/tags" Target="../tags/tag47.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48.xml"/><Relationship Id="rId3" Type="http://schemas.openxmlformats.org/officeDocument/2006/relationships/tags" Target="../tags/tag49.xml"/><Relationship Id="rId4" Type="http://schemas.openxmlformats.org/officeDocument/2006/relationships/tags" Target="../tags/tag50.xml"/><Relationship Id="rId5" Type="http://schemas.openxmlformats.org/officeDocument/2006/relationships/tags" Target="../tags/tag5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52.xml"/><Relationship Id="rId3" Type="http://schemas.openxmlformats.org/officeDocument/2006/relationships/tags" Target="../tags/tag53.xml"/><Relationship Id="rId4" Type="http://schemas.openxmlformats.org/officeDocument/2006/relationships/tags" Target="../tags/tag54.xml"/><Relationship Id="rId5" Type="http://schemas.openxmlformats.org/officeDocument/2006/relationships/tags" Target="../tags/tag55.xml"/><Relationship Id="rId6" Type="http://schemas.openxmlformats.org/officeDocument/2006/relationships/tags" Target="../tags/tag5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899100" y="914400"/>
            <a:ext cx="73494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899100" y="3560400"/>
            <a:ext cx="73494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456300" y="608400"/>
            <a:ext cx="82269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idx="1"/>
            <p:custDataLst>
              <p:tags r:id="rId3"/>
            </p:custDataLst>
          </p:nvPr>
        </p:nvSpPr>
        <p:spPr>
          <a:xfrm>
            <a:off x="456300" y="1490400"/>
            <a:ext cx="8226900" cy="47592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493100" y="3848400"/>
            <a:ext cx="58266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493100" y="4615200"/>
            <a:ext cx="58266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456300" y="608400"/>
            <a:ext cx="82269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sz="half" idx="1"/>
            <p:custDataLst>
              <p:tags r:id="rId3"/>
            </p:custDataLst>
          </p:nvPr>
        </p:nvSpPr>
        <p:spPr>
          <a:xfrm>
            <a:off x="456300" y="1501200"/>
            <a:ext cx="3882600" cy="47484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custDataLst>
              <p:tags r:id="rId4"/>
            </p:custDataLst>
          </p:nvPr>
        </p:nvSpPr>
        <p:spPr>
          <a:xfrm>
            <a:off x="4808700" y="1501200"/>
            <a:ext cx="38826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456300" y="608400"/>
            <a:ext cx="82269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456300" y="1429200"/>
            <a:ext cx="40068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456300" y="1854000"/>
            <a:ext cx="40068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custDataLst>
              <p:tags r:id="rId5"/>
            </p:custDataLst>
          </p:nvPr>
        </p:nvSpPr>
        <p:spPr>
          <a:xfrm>
            <a:off x="4676813" y="1421729"/>
            <a:ext cx="40068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a:spLocks noGrp="1"/>
          </p:cNvSpPr>
          <p:nvPr>
            <p:ph sz="quarter" idx="4"/>
            <p:custDataLst>
              <p:tags r:id="rId6"/>
            </p:custDataLst>
          </p:nvPr>
        </p:nvSpPr>
        <p:spPr>
          <a:xfrm>
            <a:off x="4676813" y="1854000"/>
            <a:ext cx="40068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456300" y="608400"/>
            <a:ext cx="82269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456300" y="1555200"/>
            <a:ext cx="3924808"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4762800" y="1555200"/>
            <a:ext cx="3920400" cy="4608000"/>
          </a:xfrm>
        </p:spPr>
        <p:txBody>
          <a:bodyPr vert="horz" lIns="90000" tIns="46800" rIns="90000" bIns="46800" rtlCol="0">
            <a:normAutofit/>
          </a:bodyPr>
          <a:lstStyle>
            <a:lvl1pPr>
              <a:buNone/>
              <a:defRPr sz="1600"/>
            </a:lvl1pPr>
          </a:lstStyle>
          <a:p>
            <a:pPr lvl="0"/>
            <a:r>
              <a:rPr lang="zh-CN" altLang="en-US"/>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7676100" y="914400"/>
            <a:ext cx="783000" cy="5029200"/>
          </a:xfrm>
        </p:spPr>
        <p:txBody>
          <a:bodyPr vert="eaVert" lIns="90000" tIns="46800" rIns="90000" bIns="46800" rtlCol="0" anchor="ctr" anchorCtr="0">
            <a:normAutofit/>
          </a:bodyPr>
          <a:lstStyle>
            <a:lvl1pPr>
              <a:buNone/>
              <a:defRPr sz="2800"/>
            </a:lvl1pPr>
          </a:lstStyle>
          <a:p>
            <a:pPr lvl="0"/>
            <a:r>
              <a:rPr lang="zh-CN" altLang="en-US"/>
              <a:t>单击此处编辑标题</a:t>
            </a:r>
            <a:endParaRPr lang="zh-CN" altLang="en-US"/>
          </a:p>
        </p:txBody>
      </p:sp>
      <p:sp>
        <p:nvSpPr>
          <p:cNvPr id="3" name="竖排文字占位符 2"/>
          <p:cNvSpPr>
            <a:spLocks noGrp="1"/>
          </p:cNvSpPr>
          <p:nvPr>
            <p:ph type="body" orient="vert" idx="1"/>
            <p:custDataLst>
              <p:tags r:id="rId3"/>
            </p:custDataLst>
          </p:nvPr>
        </p:nvSpPr>
        <p:spPr>
          <a:xfrm>
            <a:off x="685800" y="914400"/>
            <a:ext cx="68769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456300" y="774000"/>
            <a:ext cx="82296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899100" y="2484000"/>
            <a:ext cx="7349400" cy="1018800"/>
          </a:xfrm>
        </p:spPr>
        <p:txBody>
          <a:bodyPr vert="horz" lIns="90000" tIns="46800" rIns="90000" bIns="46800" rtlCol="0" anchor="t" anchorCtr="0">
            <a:normAutofit/>
          </a:bodyPr>
          <a:lstStyle>
            <a:lvl1pPr algn="ctr">
              <a:defRPr sz="6000"/>
            </a:lvl1pPr>
          </a:lstStyle>
          <a:p>
            <a:pPr lvl="0"/>
            <a:r>
              <a:rPr lang="zh-CN" altLang="en-US"/>
              <a:t>单击此处编辑标题</a:t>
            </a:r>
            <a:endParaRPr lang="zh-CN" altLang="en-US"/>
          </a:p>
        </p:txBody>
      </p:sp>
      <p:sp>
        <p:nvSpPr>
          <p:cNvPr id="7" name="文本占位符 6"/>
          <p:cNvSpPr>
            <a:spLocks noGrp="1"/>
          </p:cNvSpPr>
          <p:nvPr>
            <p:ph type="body" sz="quarter" idx="13"/>
            <p:custDataLst>
              <p:tags r:id="rId6"/>
            </p:custDataLst>
          </p:nvPr>
        </p:nvSpPr>
        <p:spPr>
          <a:xfrm>
            <a:off x="899100" y="3560400"/>
            <a:ext cx="73494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ags" Target="../tags/tag57.xml"/><Relationship Id="rId13" Type="http://schemas.openxmlformats.org/officeDocument/2006/relationships/tags" Target="../tags/tag58.xml"/><Relationship Id="rId14" Type="http://schemas.openxmlformats.org/officeDocument/2006/relationships/tags" Target="../tags/tag59.xml"/><Relationship Id="rId15" Type="http://schemas.openxmlformats.org/officeDocument/2006/relationships/tags" Target="../tags/tag60.xml"/><Relationship Id="rId16" Type="http://schemas.openxmlformats.org/officeDocument/2006/relationships/tags" Target="../tags/tag61.xml"/><Relationship Id="rId17" Type="http://schemas.openxmlformats.org/officeDocument/2006/relationships/tags" Target="../tags/tag62.xml"/><Relationship Id="rId1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456300" y="608400"/>
            <a:ext cx="82269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456300" y="1490400"/>
            <a:ext cx="82269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459000" y="6314400"/>
            <a:ext cx="2025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3087000" y="6314400"/>
            <a:ext cx="297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6658200" y="6314400"/>
            <a:ext cx="2025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ags" Target="../tags/tag63.xml"/><Relationship Id="rId3" Type="http://schemas.openxmlformats.org/officeDocument/2006/relationships/image" Target="../media/image1.jpe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ags" Target="../tags/tag64.xml"/><Relationship Id="rId3" Type="http://schemas.openxmlformats.org/officeDocument/2006/relationships/image" Target="../media/image1.jpe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ags" Target="../tags/tag65.xml"/><Relationship Id="rId3" Type="http://schemas.openxmlformats.org/officeDocument/2006/relationships/image" Target="../media/image1.jpe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ags" Target="../tags/tag65.xml"/><Relationship Id="rId3" Type="http://schemas.openxmlformats.org/officeDocument/2006/relationships/image" Target="../media/image1.jpe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ags" Target="../tags/tag66.xml"/><Relationship Id="rId3" Type="http://schemas.openxmlformats.org/officeDocument/2006/relationships/image" Target="../media/image1.jpe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ags" Target="../tags/tag67.xml"/><Relationship Id="rId3" Type="http://schemas.openxmlformats.org/officeDocument/2006/relationships/image" Target="../media/image1.jpe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ags" Target="../tags/tag69.xml"/><Relationship Id="rId3" Type="http://schemas.openxmlformats.org/officeDocument/2006/relationships/image" Target="../media/image1.jpe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ags" Target="../tags/tag70.xml"/><Relationship Id="rId3" Type="http://schemas.openxmlformats.org/officeDocument/2006/relationships/image" Target="../media/image1.jpe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ags" Target="../tags/tag70.xml"/><Relationship Id="rId3" Type="http://schemas.openxmlformats.org/officeDocument/2006/relationships/image" Target="../media/image1.jpe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ags" Target="../tags/tag70.xml"/><Relationship Id="rId3" Type="http://schemas.openxmlformats.org/officeDocument/2006/relationships/image" Target="../media/image1.jpe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ags" Target="../tags/tag70.xml"/><Relationship Id="rId3" Type="http://schemas.openxmlformats.org/officeDocument/2006/relationships/image" Target="../media/image1.jpeg"/><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ags" Target="../tags/tag70.xml"/><Relationship Id="rId3" Type="http://schemas.openxmlformats.org/officeDocument/2006/relationships/image" Target="../media/image1.jpe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ags" Target="../tags/tag70.xml"/><Relationship Id="rId3" Type="http://schemas.openxmlformats.org/officeDocument/2006/relationships/image" Target="../media/image1.jpeg"/><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ags" Target="../tags/tag70.xml"/><Relationship Id="rId3" Type="http://schemas.openxmlformats.org/officeDocument/2006/relationships/image" Target="../media/image1.jpeg"/><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ags" Target="../tags/tag70.xml"/><Relationship Id="rId3" Type="http://schemas.openxmlformats.org/officeDocument/2006/relationships/image" Target="../media/image1.jpeg"/><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ags" Target="../tags/tag70.xml"/><Relationship Id="rId3" Type="http://schemas.openxmlformats.org/officeDocument/2006/relationships/image" Target="../media/image1.jpeg"/><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ags" Target="../tags/tag70.xml"/><Relationship Id="rId3" Type="http://schemas.openxmlformats.org/officeDocument/2006/relationships/image" Target="../media/image1.jpeg"/><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ags" Target="../tags/tag70.xml"/><Relationship Id="rId3" Type="http://schemas.openxmlformats.org/officeDocument/2006/relationships/image" Target="../media/image1.jpeg"/><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ags" Target="../tags/tag71.xml"/><Relationship Id="rId3" Type="http://schemas.openxmlformats.org/officeDocument/2006/relationships/image" Target="../media/image1.jpeg"/><Relationship Id="rId4" Type="http://schemas.openxmlformats.org/officeDocument/2006/relationships/image" Target="../media/image24.png"/><Relationship Id="rId5" Type="http://schemas.openxmlformats.org/officeDocument/2006/relationships/image" Target="../media/image25.png"/></Relationships>
</file>

<file path=ppt/slides/slide10.xml><?xml version="1.0" encoding="utf-8"?>
<p:sld xmlns:a="http://schemas.openxmlformats.org/drawingml/2006/main" xmlns:p="http://schemas.openxmlformats.org/presentationml/2006/main" xmlns:r="http://schemas.openxmlformats.org/officeDocument/2006/relationships">
  <p:cSld>
    <p:bg>
      <p:bgPr>
        <a:blipFill rotWithShape="1">
          <a:blip r:embed="rId3"/>
          <a:stretch>
            <a:fillRect/>
          </a:stretch>
        </a:blipFill>
        <a:effectLst/>
      </p:bgPr>
    </p:bg>
    <p:spTree>
      <p:nvGrpSpPr>
        <p:cNvPr id="1" name=""/>
        <p:cNvGrpSpPr/>
        <p:nvPr/>
      </p:nvGrpSpPr>
      <p:grpSpPr/>
      <p:sp>
        <p:nvSpPr>
          <p:cNvPr id="2" name="标题 1"/>
          <p:cNvSpPr>
            <a:spLocks noGrp="1"/>
          </p:cNvSpPr>
          <p:nvPr>
            <p:ph type="title"/>
          </p:nvPr>
        </p:nvSpPr>
        <p:spPr>
          <a:xfrm>
            <a:off x="916675" y="69920"/>
            <a:ext cx="8226900" cy="705600"/>
          </a:xfrm>
        </p:spPr>
        <p:txBody>
          <a:bodyPr/>
          <a:lstStyle/>
          <a:p>
            <a:r>
              <a:t>Title</a:t>
            </a:r>
          </a:p>
        </p:txBody>
      </p:sp>
      <p:pic>
        <p:nvPicPr>
          <p:cNvPr id="3" name="Picture 2" descr="slide01_image01.png"/>
          <p:cNvPicPr>
            <a:picLocks noChangeAspect="1"/>
          </p:cNvPicPr>
          <p:nvPr/>
        </p:nvPicPr>
        <p:blipFill>
          <a:blip r:embed="rId4"/>
          <a:stretch>
            <a:fillRect/>
          </a:stretch>
        </p:blipFill>
        <p:spPr>
          <a:xfrm>
            <a:off x="0" y="1279525"/>
            <a:ext cx="9144000" cy="4177665"/>
          </a:xfrm>
          <a:prstGeom prst="rect">
            <a:avLst/>
          </a:prstGeom>
        </p:spPr>
      </p:pic>
      <p:sp>
        <p:nvSpPr>
          <p:cNvPr id="4" name="TextBox 3"/>
          <p:cNvSpPr txBox="1"/>
          <p:nvPr/>
        </p:nvSpPr>
        <p:spPr>
          <a:xfrm>
            <a:off x="3829678" y="5671163"/>
            <a:ext cx="1141730" cy="368300"/>
          </a:xfrm>
          <a:prstGeom prst="rect">
            <a:avLst/>
          </a:prstGeom>
          <a:noFill/>
        </p:spPr>
        <p:txBody>
          <a:bodyPr wrap="square">
            <a:spAutoFit/>
          </a:bodyPr>
          <a:lstStyle/>
          <a:p>
            <a:r>
              <a:rPr sz="1400" b="0">
                <a:solidFill>
                  <a:srgbClr val="000000"/>
                </a:solidFill>
                <a:latin typeface="Microsoft YaHei"/>
              </a:rPr>
              <a:t>SIGIR '26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blipFill rotWithShape="1">
          <a:blip r:embed="rId3"/>
          <a:stretch>
            <a:fillRect/>
          </a:stretch>
        </a:blipFill>
        <a:effectLst/>
      </p:bgPr>
    </p:bg>
    <p:spTree>
      <p:nvGrpSpPr>
        <p:cNvPr id="1" name=""/>
        <p:cNvGrpSpPr/>
        <p:nvPr/>
      </p:nvGrpSpPr>
      <p:grpSpPr/>
      <p:sp>
        <p:nvSpPr>
          <p:cNvPr id="2" name="标题 1"/>
          <p:cNvSpPr>
            <a:spLocks noGrp="1"/>
          </p:cNvSpPr>
          <p:nvPr>
            <p:ph type="title"/>
          </p:nvPr>
        </p:nvSpPr>
        <p:spPr>
          <a:xfrm>
            <a:off x="916675" y="69920"/>
            <a:ext cx="8226900" cy="705600"/>
          </a:xfrm>
        </p:spPr>
        <p:txBody>
          <a:bodyPr/>
          <a:lstStyle/>
          <a:p>
            <a:r>
              <a:t>Abstract</a:t>
            </a:r>
          </a:p>
        </p:txBody>
      </p:sp>
      <p:sp>
        <p:nvSpPr>
          <p:cNvPr id="6" name="文本框 5"/>
          <p:cNvSpPr txBox="1"/>
          <p:nvPr/>
        </p:nvSpPr>
        <p:spPr>
          <a:xfrm>
            <a:off x="5633085" y="1113790"/>
            <a:ext cx="2814320" cy="368300"/>
          </a:xfrm>
          <a:prstGeom prst="rect">
            <a:avLst/>
          </a:prstGeom>
          <a:noFill/>
        </p:spPr>
        <p:txBody>
          <a:bodyPr wrap="square" rtlCol="0">
            <a:spAutoFit/>
          </a:bodyPr>
          <a:lstStyle/>
          <a:p>
            <a:r>
              <a:rPr lang="zh-CN" altLang="en-US" dirty="0"/>
              <a:t>动机：</a:t>
            </a:r>
            <a:endParaRPr lang="zh-CN" altLang="en-US" dirty="0"/>
          </a:p>
        </p:txBody>
      </p:sp>
      <p:pic>
        <p:nvPicPr>
          <p:cNvPr id="7" name="Picture 6" descr="slide02_image01.png"/>
          <p:cNvPicPr>
            <a:picLocks noChangeAspect="1"/>
          </p:cNvPicPr>
          <p:nvPr/>
        </p:nvPicPr>
        <p:blipFill>
          <a:blip r:embed="rId4"/>
          <a:stretch>
            <a:fillRect/>
          </a:stretch>
        </p:blipFill>
        <p:spPr>
          <a:xfrm>
            <a:off x="161925" y="867410"/>
            <a:ext cx="4600575" cy="5601970"/>
          </a:xfrm>
          <a:prstGeom prst="rect">
            <a:avLst/>
          </a:prstGeom>
        </p:spPr>
      </p:pic>
      <p:sp>
        <p:nvSpPr>
          <p:cNvPr id="8" name="TextBox 7"/>
          <p:cNvSpPr txBox="1"/>
          <p:nvPr/>
        </p:nvSpPr>
        <p:spPr>
          <a:xfrm>
            <a:off x="5633085" y="1562100"/>
            <a:ext cx="3378835" cy="4358005"/>
          </a:xfrm>
          <a:prstGeom prst="rect">
            <a:avLst/>
          </a:prstGeom>
          <a:noFill/>
        </p:spPr>
        <p:txBody>
          <a:bodyPr wrap="square">
            <a:spAutoFit/>
          </a:bodyPr>
          <a:lstStyle/>
          <a:p>
            <a:r>
              <a:rPr sz="1300" b="0">
                <a:solidFill>
                  <a:srgbClr val="000000"/>
                </a:solidFill>
                <a:latin typeface="Microsoft YaHei"/>
              </a:rPr>
              <a:t>    现有的多模态推荐方法往往忽视了用户表示初始化这一关键环节，与天然具备丰富模态信息的物品不同，用户本身缺乏此类固有信息。</a:t>
            </a:r>
          </a:p>
          <a:p>
            <a:r>
              <a:rPr sz="1300" b="0">
                <a:solidFill>
                  <a:srgbClr val="000000"/>
                </a:solidFill>
                <a:latin typeface="Microsoft YaHei"/>
              </a:rPr>
              <a:t>    基于有意义模态信息初始化的物品表示与随机初始化的用户表示之间存在显著的语义差异。</a:t>
            </a:r>
          </a:p>
          <a:p>
            <a:r>
              <a:rPr sz="1300" b="0">
                <a:solidFill>
                  <a:srgbClr val="000000"/>
                </a:solidFill>
                <a:latin typeface="Microsoft YaHei"/>
              </a:rPr>
              <a:t>    因此文章提出了一种语义保证的用户表征初始化方法（SG-URInit），SG-URInit 通过整合用户交互过的项目的模态特征及其对应聚类的全局特征，为每位用户构建初始表征。</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blipFill rotWithShape="1">
          <a:blip r:embed="rId3"/>
          <a:stretch>
            <a:fillRect/>
          </a:stretch>
        </a:blipFill>
        <a:effectLst/>
      </p:bgPr>
    </p:bg>
    <p:spTree>
      <p:nvGrpSpPr>
        <p:cNvPr id="1" name=""/>
        <p:cNvGrpSpPr/>
        <p:nvPr/>
      </p:nvGrpSpPr>
      <p:grpSpPr/>
      <p:sp>
        <p:nvSpPr>
          <p:cNvPr id="2" name="标题 1"/>
          <p:cNvSpPr>
            <a:spLocks noGrp="1"/>
          </p:cNvSpPr>
          <p:nvPr>
            <p:ph type="title"/>
          </p:nvPr>
        </p:nvSpPr>
        <p:spPr>
          <a:xfrm>
            <a:off x="916675" y="69920"/>
            <a:ext cx="8226900" cy="705600"/>
          </a:xfrm>
        </p:spPr>
        <p:txBody>
          <a:bodyPr/>
          <a:lstStyle/>
          <a:p>
            <a:r>
              <a:t>Motivation</a:t>
            </a:r>
          </a:p>
        </p:txBody>
      </p:sp>
      <p:pic>
        <p:nvPicPr>
          <p:cNvPr id="3" name="Picture 2" descr="slide03_image01.png"/>
          <p:cNvPicPr>
            <a:picLocks noChangeAspect="1"/>
          </p:cNvPicPr>
          <p:nvPr/>
        </p:nvPicPr>
        <p:blipFill>
          <a:blip r:embed="rId4"/>
          <a:stretch>
            <a:fillRect/>
          </a:stretch>
        </p:blipFill>
        <p:spPr>
          <a:xfrm>
            <a:off x="0" y="1449070"/>
            <a:ext cx="9144000" cy="3959225"/>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blipFill rotWithShape="1">
          <a:blip r:embed="rId3"/>
          <a:stretch>
            <a:fillRect/>
          </a:stretch>
        </a:blipFill>
        <a:effectLst/>
      </p:bgPr>
    </p:bg>
    <p:spTree>
      <p:nvGrpSpPr>
        <p:cNvPr id="1" name=""/>
        <p:cNvGrpSpPr/>
        <p:nvPr/>
      </p:nvGrpSpPr>
      <p:grpSpPr/>
      <p:sp>
        <p:nvSpPr>
          <p:cNvPr id="2" name="标题 1"/>
          <p:cNvSpPr>
            <a:spLocks noGrp="1"/>
          </p:cNvSpPr>
          <p:nvPr>
            <p:ph type="title"/>
          </p:nvPr>
        </p:nvSpPr>
        <p:spPr>
          <a:xfrm>
            <a:off x="916675" y="69920"/>
            <a:ext cx="8226900" cy="705600"/>
          </a:xfrm>
        </p:spPr>
        <p:txBody>
          <a:bodyPr/>
          <a:lstStyle/>
          <a:p>
            <a:r>
              <a:t>key contributions</a:t>
            </a:r>
          </a:p>
        </p:txBody>
      </p:sp>
      <p:pic>
        <p:nvPicPr>
          <p:cNvPr id="3" name="Picture 2" descr="slide04_image01.png"/>
          <p:cNvPicPr>
            <a:picLocks noChangeAspect="1"/>
          </p:cNvPicPr>
          <p:nvPr/>
        </p:nvPicPr>
        <p:blipFill>
          <a:blip r:embed="rId4"/>
          <a:stretch>
            <a:fillRect/>
          </a:stretch>
        </p:blipFill>
        <p:spPr>
          <a:xfrm>
            <a:off x="1449705" y="1306830"/>
            <a:ext cx="6244590" cy="478917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blipFill rotWithShape="1">
          <a:blip r:embed="rId3"/>
          <a:stretch>
            <a:fillRect/>
          </a:stretch>
        </a:blipFill>
        <a:effectLst/>
      </p:bgPr>
    </p:bg>
    <p:spTree>
      <p:nvGrpSpPr>
        <p:cNvPr id="1" name=""/>
        <p:cNvGrpSpPr/>
        <p:nvPr/>
      </p:nvGrpSpPr>
      <p:grpSpPr/>
      <p:sp>
        <p:nvSpPr>
          <p:cNvPr id="2" name="标题 1"/>
          <p:cNvSpPr>
            <a:spLocks noGrp="1"/>
          </p:cNvSpPr>
          <p:nvPr>
            <p:ph type="title"/>
          </p:nvPr>
        </p:nvSpPr>
        <p:spPr>
          <a:xfrm>
            <a:off x="916675" y="69920"/>
            <a:ext cx="8226900" cy="705600"/>
          </a:xfrm>
        </p:spPr>
        <p:txBody>
          <a:bodyPr/>
          <a:lstStyle/>
          <a:p>
            <a:r>
              <a:t>Framework</a:t>
            </a:r>
          </a:p>
        </p:txBody>
      </p:sp>
      <p:pic>
        <p:nvPicPr>
          <p:cNvPr id="3" name="Picture 2" descr="slide05_image01.png"/>
          <p:cNvPicPr>
            <a:picLocks noChangeAspect="1"/>
          </p:cNvPicPr>
          <p:nvPr/>
        </p:nvPicPr>
        <p:blipFill>
          <a:blip r:embed="rId4"/>
          <a:stretch>
            <a:fillRect/>
          </a:stretch>
        </p:blipFill>
        <p:spPr>
          <a:xfrm>
            <a:off x="0" y="2016125"/>
            <a:ext cx="9144000" cy="2825115"/>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blipFill rotWithShape="1">
          <a:blip r:embed="rId3"/>
          <a:stretch>
            <a:fillRect/>
          </a:stretch>
        </a:blipFill>
        <a:effectLst/>
      </p:bgPr>
    </p:bg>
    <p:spTree>
      <p:nvGrpSpPr>
        <p:cNvPr id="1" name=""/>
        <p:cNvGrpSpPr/>
        <p:nvPr/>
      </p:nvGrpSpPr>
      <p:grpSpPr/>
      <p:sp>
        <p:nvSpPr>
          <p:cNvPr id="2" name="标题 1"/>
          <p:cNvSpPr>
            <a:spLocks noGrp="1"/>
          </p:cNvSpPr>
          <p:nvPr>
            <p:ph type="title"/>
          </p:nvPr>
        </p:nvSpPr>
        <p:spPr>
          <a:xfrm>
            <a:off x="916675" y="69920"/>
            <a:ext cx="8226900" cy="705600"/>
          </a:xfrm>
        </p:spPr>
        <p:txBody>
          <a:bodyPr/>
          <a:lstStyle/>
          <a:p>
            <a:r>
              <a:t>Method</a:t>
            </a:r>
          </a:p>
        </p:txBody>
      </p:sp>
      <p:pic>
        <p:nvPicPr>
          <p:cNvPr id="3" name="Picture 2" descr="slide06_image01.png"/>
          <p:cNvPicPr>
            <a:picLocks noChangeAspect="1"/>
          </p:cNvPicPr>
          <p:nvPr/>
        </p:nvPicPr>
        <p:blipFill>
          <a:blip r:embed="rId4"/>
          <a:stretch>
            <a:fillRect/>
          </a:stretch>
        </p:blipFill>
        <p:spPr>
          <a:xfrm>
            <a:off x="3506470" y="1501140"/>
            <a:ext cx="2365375" cy="779780"/>
          </a:xfrm>
          <a:prstGeom prst="rect">
            <a:avLst/>
          </a:prstGeom>
        </p:spPr>
      </p:pic>
      <p:pic>
        <p:nvPicPr>
          <p:cNvPr id="4" name="Picture 3" descr="slide06_image02.png"/>
          <p:cNvPicPr>
            <a:picLocks noChangeAspect="1"/>
          </p:cNvPicPr>
          <p:nvPr/>
        </p:nvPicPr>
        <p:blipFill>
          <a:blip r:embed="rId5"/>
          <a:stretch>
            <a:fillRect/>
          </a:stretch>
        </p:blipFill>
        <p:spPr>
          <a:xfrm>
            <a:off x="2813685" y="2973070"/>
            <a:ext cx="4720590" cy="478155"/>
          </a:xfrm>
          <a:prstGeom prst="rect">
            <a:avLst/>
          </a:prstGeom>
        </p:spPr>
      </p:pic>
      <p:pic>
        <p:nvPicPr>
          <p:cNvPr id="5" name="Picture 4" descr="slide06_image03.png"/>
          <p:cNvPicPr>
            <a:picLocks noChangeAspect="1"/>
          </p:cNvPicPr>
          <p:nvPr/>
        </p:nvPicPr>
        <p:blipFill>
          <a:blip r:embed="rId6"/>
          <a:stretch>
            <a:fillRect/>
          </a:stretch>
        </p:blipFill>
        <p:spPr>
          <a:xfrm>
            <a:off x="3219450" y="3577590"/>
            <a:ext cx="3621405" cy="843280"/>
          </a:xfrm>
          <a:prstGeom prst="rect">
            <a:avLst/>
          </a:prstGeom>
        </p:spPr>
      </p:pic>
      <p:pic>
        <p:nvPicPr>
          <p:cNvPr id="6" name="Picture 5" descr="slide06_image04.png"/>
          <p:cNvPicPr>
            <a:picLocks noChangeAspect="1"/>
          </p:cNvPicPr>
          <p:nvPr/>
        </p:nvPicPr>
        <p:blipFill>
          <a:blip r:embed="rId7"/>
          <a:stretch>
            <a:fillRect/>
          </a:stretch>
        </p:blipFill>
        <p:spPr>
          <a:xfrm>
            <a:off x="3813175" y="4420870"/>
            <a:ext cx="2433955" cy="755650"/>
          </a:xfrm>
          <a:prstGeom prst="rect">
            <a:avLst/>
          </a:prstGeom>
        </p:spPr>
      </p:pic>
      <p:pic>
        <p:nvPicPr>
          <p:cNvPr id="7" name="Picture 6" descr="slide06_image05.png"/>
          <p:cNvPicPr>
            <a:picLocks noChangeAspect="1"/>
          </p:cNvPicPr>
          <p:nvPr/>
        </p:nvPicPr>
        <p:blipFill>
          <a:blip r:embed="rId8"/>
          <a:stretch>
            <a:fillRect/>
          </a:stretch>
        </p:blipFill>
        <p:spPr>
          <a:xfrm>
            <a:off x="3277235" y="5687060"/>
            <a:ext cx="3505200" cy="571500"/>
          </a:xfrm>
          <a:prstGeom prst="rect">
            <a:avLst/>
          </a:prstGeom>
        </p:spPr>
      </p:pic>
      <p:sp>
        <p:nvSpPr>
          <p:cNvPr id="8" name="TextBox 7"/>
          <p:cNvSpPr txBox="1"/>
          <p:nvPr/>
        </p:nvSpPr>
        <p:spPr>
          <a:xfrm>
            <a:off x="436245" y="1141730"/>
            <a:ext cx="5060315" cy="368300"/>
          </a:xfrm>
          <a:prstGeom prst="rect">
            <a:avLst/>
          </a:prstGeom>
          <a:noFill/>
        </p:spPr>
        <p:txBody>
          <a:bodyPr wrap="square">
            <a:spAutoFit/>
          </a:bodyPr>
          <a:lstStyle/>
          <a:p>
            <a:r>
              <a:rPr sz="1400" b="1">
                <a:solidFill>
                  <a:srgbClr val="000000"/>
                </a:solidFill>
                <a:latin typeface="Microsoft YaHei"/>
              </a:rPr>
              <a:t>Item-level Aggregation</a:t>
            </a:r>
          </a:p>
        </p:txBody>
      </p:sp>
      <p:sp>
        <p:nvSpPr>
          <p:cNvPr id="9" name="TextBox 8"/>
          <p:cNvSpPr txBox="1"/>
          <p:nvPr/>
        </p:nvSpPr>
        <p:spPr>
          <a:xfrm>
            <a:off x="436245" y="2407920"/>
            <a:ext cx="4812665" cy="368300"/>
          </a:xfrm>
          <a:prstGeom prst="rect">
            <a:avLst/>
          </a:prstGeom>
          <a:noFill/>
        </p:spPr>
        <p:txBody>
          <a:bodyPr wrap="square">
            <a:spAutoFit/>
          </a:bodyPr>
          <a:lstStyle/>
          <a:p>
            <a:r>
              <a:rPr sz="1400" b="1">
                <a:solidFill>
                  <a:srgbClr val="000000"/>
                </a:solidFill>
                <a:latin typeface="Microsoft YaHei"/>
              </a:rPr>
              <a:t>Cluster-level Aggregation</a:t>
            </a:r>
          </a:p>
        </p:txBody>
      </p:sp>
      <p:sp>
        <p:nvSpPr>
          <p:cNvPr id="10" name="TextBox 9"/>
          <p:cNvSpPr txBox="1"/>
          <p:nvPr/>
        </p:nvSpPr>
        <p:spPr>
          <a:xfrm>
            <a:off x="436245" y="5318760"/>
            <a:ext cx="4572000" cy="368300"/>
          </a:xfrm>
          <a:prstGeom prst="rect">
            <a:avLst/>
          </a:prstGeom>
          <a:noFill/>
        </p:spPr>
        <p:txBody>
          <a:bodyPr wrap="square">
            <a:spAutoFit/>
          </a:bodyPr>
          <a:lstStyle/>
          <a:p>
            <a:r>
              <a:rPr sz="1400" b="1">
                <a:solidFill>
                  <a:srgbClr val="000000"/>
                </a:solidFill>
                <a:latin typeface="Microsoft YaHei"/>
              </a:rPr>
              <a:t>Fusion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blipFill rotWithShape="1">
          <a:blip r:embed="rId3"/>
          <a:stretch>
            <a:fillRect/>
          </a:stretch>
        </a:blipFill>
        <a:effectLst/>
      </p:bgPr>
    </p:bg>
    <p:spTree>
      <p:nvGrpSpPr>
        <p:cNvPr id="1" name=""/>
        <p:cNvGrpSpPr/>
        <p:nvPr/>
      </p:nvGrpSpPr>
      <p:grpSpPr/>
      <p:sp>
        <p:nvSpPr>
          <p:cNvPr id="2" name="标题 1"/>
          <p:cNvSpPr>
            <a:spLocks noGrp="1"/>
          </p:cNvSpPr>
          <p:nvPr>
            <p:ph type="title"/>
          </p:nvPr>
        </p:nvSpPr>
        <p:spPr>
          <a:xfrm>
            <a:off x="916675" y="69920"/>
            <a:ext cx="8226900" cy="705600"/>
          </a:xfrm>
        </p:spPr>
        <p:txBody>
          <a:bodyPr/>
          <a:lstStyle/>
          <a:p>
            <a:r>
              <a:t>Datasets</a:t>
            </a:r>
          </a:p>
        </p:txBody>
      </p:sp>
      <p:pic>
        <p:nvPicPr>
          <p:cNvPr id="3" name="Picture 2" descr="slide07_image01.png"/>
          <p:cNvPicPr>
            <a:picLocks noChangeAspect="1"/>
          </p:cNvPicPr>
          <p:nvPr/>
        </p:nvPicPr>
        <p:blipFill>
          <a:blip r:embed="rId4"/>
          <a:stretch>
            <a:fillRect/>
          </a:stretch>
        </p:blipFill>
        <p:spPr>
          <a:xfrm>
            <a:off x="190500" y="1718945"/>
            <a:ext cx="8763000" cy="3419475"/>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blipFill rotWithShape="1">
          <a:blip r:embed="rId3"/>
          <a:stretch>
            <a:fillRect/>
          </a:stretch>
        </a:blipFill>
        <a:effectLst/>
      </p:bgPr>
    </p:bg>
    <p:spTree>
      <p:nvGrpSpPr>
        <p:cNvPr id="1" name=""/>
        <p:cNvGrpSpPr/>
        <p:nvPr/>
      </p:nvGrpSpPr>
      <p:grpSpPr/>
      <p:sp>
        <p:nvSpPr>
          <p:cNvPr id="2" name="标题 1"/>
          <p:cNvSpPr>
            <a:spLocks noGrp="1"/>
          </p:cNvSpPr>
          <p:nvPr>
            <p:ph type="title"/>
          </p:nvPr>
        </p:nvSpPr>
        <p:spPr>
          <a:xfrm>
            <a:off x="916675" y="69920"/>
            <a:ext cx="8226900" cy="705600"/>
          </a:xfrm>
        </p:spPr>
        <p:txBody>
          <a:bodyPr/>
          <a:lstStyle/>
          <a:p>
            <a:r>
              <a:t>Experimental Evaluation</a:t>
            </a:r>
          </a:p>
        </p:txBody>
      </p:sp>
      <p:pic>
        <p:nvPicPr>
          <p:cNvPr id="3" name="Picture 2" descr="slide08_image01.png"/>
          <p:cNvPicPr>
            <a:picLocks noChangeAspect="1"/>
          </p:cNvPicPr>
          <p:nvPr/>
        </p:nvPicPr>
        <p:blipFill>
          <a:blip r:embed="rId4"/>
          <a:stretch>
            <a:fillRect/>
          </a:stretch>
        </p:blipFill>
        <p:spPr>
          <a:xfrm>
            <a:off x="0" y="1149985"/>
            <a:ext cx="9144000" cy="455803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blipFill rotWithShape="1">
          <a:blip r:embed="rId3"/>
          <a:stretch>
            <a:fillRect/>
          </a:stretch>
        </a:blipFill>
        <a:effectLst/>
      </p:bgPr>
    </p:bg>
    <p:spTree>
      <p:nvGrpSpPr>
        <p:cNvPr id="1" name=""/>
        <p:cNvGrpSpPr/>
        <p:nvPr/>
      </p:nvGrpSpPr>
      <p:grpSpPr/>
      <p:sp>
        <p:nvSpPr>
          <p:cNvPr id="2" name="标题 1"/>
          <p:cNvSpPr>
            <a:spLocks noGrp="1"/>
          </p:cNvSpPr>
          <p:nvPr>
            <p:ph type="title"/>
          </p:nvPr>
        </p:nvSpPr>
        <p:spPr>
          <a:xfrm>
            <a:off x="916675" y="69920"/>
            <a:ext cx="8226900" cy="705600"/>
          </a:xfrm>
        </p:spPr>
        <p:txBody>
          <a:bodyPr/>
          <a:lstStyle/>
          <a:p>
            <a:r>
              <a:t>Experimental Evaluation</a:t>
            </a:r>
          </a:p>
        </p:txBody>
      </p:sp>
      <p:pic>
        <p:nvPicPr>
          <p:cNvPr id="3" name="Picture 2" descr="slide09_image01.png"/>
          <p:cNvPicPr>
            <a:picLocks noChangeAspect="1"/>
          </p:cNvPicPr>
          <p:nvPr/>
        </p:nvPicPr>
        <p:blipFill>
          <a:blip r:embed="rId4"/>
          <a:stretch>
            <a:fillRect/>
          </a:stretch>
        </p:blipFill>
        <p:spPr>
          <a:xfrm>
            <a:off x="0" y="1057910"/>
            <a:ext cx="9144000" cy="4741545"/>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blipFill rotWithShape="1">
          <a:blip r:embed="rId3"/>
          <a:stretch>
            <a:fillRect/>
          </a:stretch>
        </a:blipFill>
        <a:effectLst/>
      </p:bgPr>
    </p:bg>
    <p:spTree>
      <p:nvGrpSpPr>
        <p:cNvPr id="1" name=""/>
        <p:cNvGrpSpPr/>
        <p:nvPr/>
      </p:nvGrpSpPr>
      <p:grpSpPr/>
      <p:sp>
        <p:nvSpPr>
          <p:cNvPr id="2" name="标题 1"/>
          <p:cNvSpPr>
            <a:spLocks noGrp="1"/>
          </p:cNvSpPr>
          <p:nvPr>
            <p:ph type="title"/>
          </p:nvPr>
        </p:nvSpPr>
        <p:spPr>
          <a:xfrm>
            <a:off x="916675" y="69920"/>
            <a:ext cx="8226900" cy="705600"/>
          </a:xfrm>
        </p:spPr>
        <p:txBody>
          <a:bodyPr/>
          <a:lstStyle/>
          <a:p>
            <a:r>
              <a:t>Experimental Evaluation</a:t>
            </a:r>
          </a:p>
        </p:txBody>
      </p:sp>
      <p:pic>
        <p:nvPicPr>
          <p:cNvPr id="3" name="Picture 2" descr="slide10_image01.png"/>
          <p:cNvPicPr>
            <a:picLocks noChangeAspect="1"/>
          </p:cNvPicPr>
          <p:nvPr/>
        </p:nvPicPr>
        <p:blipFill>
          <a:blip r:embed="rId4"/>
          <a:stretch>
            <a:fillRect/>
          </a:stretch>
        </p:blipFill>
        <p:spPr>
          <a:xfrm>
            <a:off x="775970" y="1068070"/>
            <a:ext cx="7591425" cy="4848225"/>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blipFill rotWithShape="1">
          <a:blip r:embed="rId3"/>
          <a:stretch>
            <a:fillRect/>
          </a:stretch>
        </a:blipFill>
        <a:effectLst/>
      </p:bgPr>
    </p:bg>
    <p:spTree>
      <p:nvGrpSpPr>
        <p:cNvPr id="1" name=""/>
        <p:cNvGrpSpPr/>
        <p:nvPr/>
      </p:nvGrpSpPr>
      <p:grpSpPr/>
      <p:sp>
        <p:nvSpPr>
          <p:cNvPr id="2" name="标题 1"/>
          <p:cNvSpPr>
            <a:spLocks noGrp="1"/>
          </p:cNvSpPr>
          <p:nvPr>
            <p:ph type="title"/>
          </p:nvPr>
        </p:nvSpPr>
        <p:spPr>
          <a:xfrm>
            <a:off x="916675" y="69920"/>
            <a:ext cx="8226900" cy="705600"/>
          </a:xfrm>
        </p:spPr>
        <p:txBody>
          <a:bodyPr/>
          <a:lstStyle/>
          <a:p>
            <a:r>
              <a:t>Experimental Evaluation</a:t>
            </a:r>
          </a:p>
        </p:txBody>
      </p:sp>
      <p:pic>
        <p:nvPicPr>
          <p:cNvPr id="3" name="Picture 2" descr="slide11_image01.png"/>
          <p:cNvPicPr>
            <a:picLocks noChangeAspect="1"/>
          </p:cNvPicPr>
          <p:nvPr/>
        </p:nvPicPr>
        <p:blipFill>
          <a:blip r:embed="rId4"/>
          <a:stretch>
            <a:fillRect/>
          </a:stretch>
        </p:blipFill>
        <p:spPr>
          <a:xfrm>
            <a:off x="1671955" y="959485"/>
            <a:ext cx="5800090" cy="54991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blipFill rotWithShape="1">
          <a:blip r:embed="rId3"/>
          <a:stretch>
            <a:fillRect/>
          </a:stretch>
        </a:blipFill>
        <a:effectLst/>
      </p:bgPr>
    </p:bg>
    <p:spTree>
      <p:nvGrpSpPr>
        <p:cNvPr id="1" name=""/>
        <p:cNvGrpSpPr/>
        <p:nvPr/>
      </p:nvGrpSpPr>
      <p:grpSpPr/>
      <p:sp>
        <p:nvSpPr>
          <p:cNvPr id="2" name="标题 1"/>
          <p:cNvSpPr>
            <a:spLocks noGrp="1"/>
          </p:cNvSpPr>
          <p:nvPr>
            <p:ph type="title"/>
          </p:nvPr>
        </p:nvSpPr>
        <p:spPr>
          <a:xfrm>
            <a:off x="916675" y="69920"/>
            <a:ext cx="8226900" cy="705600"/>
          </a:xfrm>
        </p:spPr>
        <p:txBody>
          <a:bodyPr/>
          <a:lstStyle/>
          <a:p>
            <a:r>
              <a:t>Experimental Evaluation</a:t>
            </a:r>
          </a:p>
        </p:txBody>
      </p:sp>
      <p:pic>
        <p:nvPicPr>
          <p:cNvPr id="3" name="Picture 2" descr="slide12_image01.png"/>
          <p:cNvPicPr>
            <a:picLocks noChangeAspect="1"/>
          </p:cNvPicPr>
          <p:nvPr/>
        </p:nvPicPr>
        <p:blipFill>
          <a:blip r:embed="rId4"/>
          <a:stretch>
            <a:fillRect/>
          </a:stretch>
        </p:blipFill>
        <p:spPr>
          <a:xfrm>
            <a:off x="1301750" y="924560"/>
            <a:ext cx="6540500" cy="543941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blipFill rotWithShape="1">
          <a:blip r:embed="rId3"/>
          <a:stretch>
            <a:fillRect/>
          </a:stretch>
        </a:blipFill>
        <a:effectLst/>
      </p:bgPr>
    </p:bg>
    <p:spTree>
      <p:nvGrpSpPr>
        <p:cNvPr id="1" name=""/>
        <p:cNvGrpSpPr/>
        <p:nvPr/>
      </p:nvGrpSpPr>
      <p:grpSpPr/>
      <p:sp>
        <p:nvSpPr>
          <p:cNvPr id="2" name="标题 1"/>
          <p:cNvSpPr>
            <a:spLocks noGrp="1"/>
          </p:cNvSpPr>
          <p:nvPr>
            <p:ph type="title"/>
          </p:nvPr>
        </p:nvSpPr>
        <p:spPr>
          <a:xfrm>
            <a:off x="916675" y="69920"/>
            <a:ext cx="8226900" cy="705600"/>
          </a:xfrm>
        </p:spPr>
        <p:txBody>
          <a:bodyPr/>
          <a:lstStyle/>
          <a:p>
            <a:r>
              <a:t>Experimental Evaluation</a:t>
            </a:r>
          </a:p>
        </p:txBody>
      </p:sp>
      <p:pic>
        <p:nvPicPr>
          <p:cNvPr id="3" name="Picture 2" descr="slide13_image01.png"/>
          <p:cNvPicPr>
            <a:picLocks noChangeAspect="1"/>
          </p:cNvPicPr>
          <p:nvPr/>
        </p:nvPicPr>
        <p:blipFill>
          <a:blip r:embed="rId4"/>
          <a:stretch>
            <a:fillRect/>
          </a:stretch>
        </p:blipFill>
        <p:spPr>
          <a:xfrm>
            <a:off x="0" y="2085975"/>
            <a:ext cx="9144000" cy="268605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blipFill rotWithShape="1">
          <a:blip r:embed="rId3"/>
          <a:stretch>
            <a:fillRect/>
          </a:stretch>
        </a:blipFill>
        <a:effectLst/>
      </p:bgPr>
    </p:bg>
    <p:spTree>
      <p:nvGrpSpPr>
        <p:cNvPr id="1" name=""/>
        <p:cNvGrpSpPr/>
        <p:nvPr/>
      </p:nvGrpSpPr>
      <p:grpSpPr/>
      <p:sp>
        <p:nvSpPr>
          <p:cNvPr id="2" name="标题 1"/>
          <p:cNvSpPr>
            <a:spLocks noGrp="1"/>
          </p:cNvSpPr>
          <p:nvPr>
            <p:ph type="title"/>
          </p:nvPr>
        </p:nvSpPr>
        <p:spPr>
          <a:xfrm>
            <a:off x="916675" y="69920"/>
            <a:ext cx="8226900" cy="705600"/>
          </a:xfrm>
        </p:spPr>
        <p:txBody>
          <a:bodyPr/>
          <a:lstStyle/>
          <a:p>
            <a:r>
              <a:t>Experimental Evaluation</a:t>
            </a:r>
          </a:p>
        </p:txBody>
      </p:sp>
      <p:pic>
        <p:nvPicPr>
          <p:cNvPr id="3" name="Picture 2" descr="slide14_image01.png"/>
          <p:cNvPicPr>
            <a:picLocks noChangeAspect="1"/>
          </p:cNvPicPr>
          <p:nvPr/>
        </p:nvPicPr>
        <p:blipFill>
          <a:blip r:embed="rId4"/>
          <a:stretch>
            <a:fillRect/>
          </a:stretch>
        </p:blipFill>
        <p:spPr>
          <a:xfrm>
            <a:off x="0" y="2117090"/>
            <a:ext cx="9144000" cy="262382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blipFill rotWithShape="1">
          <a:blip r:embed="rId3"/>
          <a:stretch>
            <a:fillRect/>
          </a:stretch>
        </a:blipFill>
        <a:effectLst/>
      </p:bgPr>
    </p:bg>
    <p:spTree>
      <p:nvGrpSpPr>
        <p:cNvPr id="1" name=""/>
        <p:cNvGrpSpPr/>
        <p:nvPr/>
      </p:nvGrpSpPr>
      <p:grpSpPr/>
      <p:sp>
        <p:nvSpPr>
          <p:cNvPr id="2" name="标题 1"/>
          <p:cNvSpPr>
            <a:spLocks noGrp="1"/>
          </p:cNvSpPr>
          <p:nvPr>
            <p:ph type="title"/>
          </p:nvPr>
        </p:nvSpPr>
        <p:spPr>
          <a:xfrm>
            <a:off x="916675" y="69920"/>
            <a:ext cx="8226900" cy="705600"/>
          </a:xfrm>
        </p:spPr>
        <p:txBody>
          <a:bodyPr/>
          <a:lstStyle/>
          <a:p>
            <a:r>
              <a:t>Experimental Evaluation</a:t>
            </a:r>
          </a:p>
        </p:txBody>
      </p:sp>
      <p:pic>
        <p:nvPicPr>
          <p:cNvPr id="3" name="Picture 2" descr="slide15_image01.png"/>
          <p:cNvPicPr>
            <a:picLocks noChangeAspect="1"/>
          </p:cNvPicPr>
          <p:nvPr/>
        </p:nvPicPr>
        <p:blipFill>
          <a:blip r:embed="rId4"/>
          <a:stretch>
            <a:fillRect/>
          </a:stretch>
        </p:blipFill>
        <p:spPr>
          <a:xfrm>
            <a:off x="0" y="2093595"/>
            <a:ext cx="9144000" cy="267081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blipFill rotWithShape="1">
          <a:blip r:embed="rId3"/>
          <a:stretch>
            <a:fillRect/>
          </a:stretch>
        </a:blipFill>
        <a:effectLst/>
      </p:bgPr>
    </p:bg>
    <p:spTree>
      <p:nvGrpSpPr>
        <p:cNvPr id="1" name=""/>
        <p:cNvGrpSpPr/>
        <p:nvPr/>
      </p:nvGrpSpPr>
      <p:grpSpPr/>
      <p:sp>
        <p:nvSpPr>
          <p:cNvPr id="2" name="标题 1"/>
          <p:cNvSpPr>
            <a:spLocks noGrp="1"/>
          </p:cNvSpPr>
          <p:nvPr>
            <p:ph type="title"/>
          </p:nvPr>
        </p:nvSpPr>
        <p:spPr>
          <a:xfrm>
            <a:off x="916675" y="69920"/>
            <a:ext cx="8226900" cy="705600"/>
          </a:xfrm>
        </p:spPr>
        <p:txBody>
          <a:bodyPr/>
          <a:lstStyle/>
          <a:p>
            <a:r>
              <a:t>Experimental Evaluation</a:t>
            </a:r>
          </a:p>
        </p:txBody>
      </p:sp>
      <p:pic>
        <p:nvPicPr>
          <p:cNvPr id="3" name="Picture 2" descr="slide16_image01.png"/>
          <p:cNvPicPr>
            <a:picLocks noChangeAspect="1"/>
          </p:cNvPicPr>
          <p:nvPr/>
        </p:nvPicPr>
        <p:blipFill>
          <a:blip r:embed="rId4"/>
          <a:stretch>
            <a:fillRect/>
          </a:stretch>
        </p:blipFill>
        <p:spPr>
          <a:xfrm>
            <a:off x="1196975" y="1014095"/>
            <a:ext cx="6750685" cy="5273675"/>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blipFill rotWithShape="1">
          <a:blip r:embed="rId3"/>
          <a:stretch>
            <a:fillRect/>
          </a:stretch>
        </a:blipFill>
        <a:effectLst/>
      </p:bgPr>
    </p:bg>
    <p:spTree>
      <p:nvGrpSpPr>
        <p:cNvPr id="1" name=""/>
        <p:cNvGrpSpPr/>
        <p:nvPr/>
      </p:nvGrpSpPr>
      <p:grpSpPr/>
      <p:sp>
        <p:nvSpPr>
          <p:cNvPr id="2" name="标题 1"/>
          <p:cNvSpPr>
            <a:spLocks noGrp="1"/>
          </p:cNvSpPr>
          <p:nvPr>
            <p:ph type="title"/>
          </p:nvPr>
        </p:nvSpPr>
        <p:spPr>
          <a:xfrm>
            <a:off x="916675" y="69920"/>
            <a:ext cx="8226900" cy="705600"/>
          </a:xfrm>
        </p:spPr>
        <p:txBody>
          <a:bodyPr/>
          <a:lstStyle/>
          <a:p>
            <a:r>
              <a:t>Experimental Evaluation</a:t>
            </a:r>
          </a:p>
        </p:txBody>
      </p:sp>
      <p:pic>
        <p:nvPicPr>
          <p:cNvPr id="3" name="Picture 2" descr="slide17_image01.png"/>
          <p:cNvPicPr>
            <a:picLocks noChangeAspect="1"/>
          </p:cNvPicPr>
          <p:nvPr/>
        </p:nvPicPr>
        <p:blipFill>
          <a:blip r:embed="rId4"/>
          <a:stretch>
            <a:fillRect/>
          </a:stretch>
        </p:blipFill>
        <p:spPr>
          <a:xfrm>
            <a:off x="1576070" y="2371725"/>
            <a:ext cx="5991225" cy="211455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blipFill rotWithShape="1">
          <a:blip r:embed="rId3"/>
          <a:stretch>
            <a:fillRect/>
          </a:stretch>
        </a:blipFill>
        <a:effectLst/>
      </p:bgPr>
    </p:bg>
    <p:spTree>
      <p:nvGrpSpPr>
        <p:cNvPr id="1" name=""/>
        <p:cNvGrpSpPr/>
        <p:nvPr/>
      </p:nvGrpSpPr>
      <p:grpSpPr/>
      <p:sp>
        <p:nvSpPr>
          <p:cNvPr id="2" name="标题 1"/>
          <p:cNvSpPr>
            <a:spLocks noGrp="1"/>
          </p:cNvSpPr>
          <p:nvPr>
            <p:ph type="title"/>
          </p:nvPr>
        </p:nvSpPr>
        <p:spPr>
          <a:xfrm>
            <a:off x="916675" y="69920"/>
            <a:ext cx="8226900" cy="705600"/>
          </a:xfrm>
        </p:spPr>
        <p:txBody>
          <a:bodyPr/>
          <a:lstStyle/>
          <a:p>
            <a:r>
              <a:t>Experimental Evaluation</a:t>
            </a:r>
          </a:p>
        </p:txBody>
      </p:sp>
      <p:pic>
        <p:nvPicPr>
          <p:cNvPr id="3" name="Picture 2" descr="slide18_image01.png"/>
          <p:cNvPicPr>
            <a:picLocks noChangeAspect="1"/>
          </p:cNvPicPr>
          <p:nvPr/>
        </p:nvPicPr>
        <p:blipFill>
          <a:blip r:embed="rId4"/>
          <a:stretch>
            <a:fillRect/>
          </a:stretch>
        </p:blipFill>
        <p:spPr>
          <a:xfrm>
            <a:off x="0" y="1510030"/>
            <a:ext cx="9144000" cy="383794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blipFill rotWithShape="1">
          <a:blip r:embed="rId3"/>
          <a:stretch>
            <a:fillRect/>
          </a:stretch>
        </a:blipFill>
        <a:effectLst/>
      </p:bgPr>
    </p:bg>
    <p:spTree>
      <p:nvGrpSpPr>
        <p:cNvPr id="1" name=""/>
        <p:cNvGrpSpPr/>
        <p:nvPr/>
      </p:nvGrpSpPr>
      <p:grpSpPr/>
      <p:sp>
        <p:nvSpPr>
          <p:cNvPr id="2" name="标题 1"/>
          <p:cNvSpPr>
            <a:spLocks noGrp="1"/>
          </p:cNvSpPr>
          <p:nvPr>
            <p:ph type="title"/>
          </p:nvPr>
        </p:nvSpPr>
        <p:spPr>
          <a:xfrm>
            <a:off x="916675" y="69920"/>
            <a:ext cx="8226900" cy="705600"/>
          </a:xfrm>
        </p:spPr>
        <p:txBody>
          <a:bodyPr/>
          <a:lstStyle/>
          <a:p>
            <a:r>
              <a:t>Idea</a:t>
            </a:r>
          </a:p>
        </p:txBody>
      </p:sp>
      <p:pic>
        <p:nvPicPr>
          <p:cNvPr id="3" name="Picture 2" descr="slide19_image01.png"/>
          <p:cNvPicPr>
            <a:picLocks noChangeAspect="1"/>
          </p:cNvPicPr>
          <p:nvPr/>
        </p:nvPicPr>
        <p:blipFill>
          <a:blip r:embed="rId4"/>
          <a:stretch>
            <a:fillRect/>
          </a:stretch>
        </p:blipFill>
        <p:spPr>
          <a:xfrm>
            <a:off x="0" y="3042920"/>
            <a:ext cx="9144000" cy="940435"/>
          </a:xfrm>
          <a:prstGeom prst="rect">
            <a:avLst/>
          </a:prstGeom>
        </p:spPr>
      </p:pic>
      <p:pic>
        <p:nvPicPr>
          <p:cNvPr id="4" name="Picture 3" descr="slide19_image02.png"/>
          <p:cNvPicPr>
            <a:picLocks noChangeAspect="1"/>
          </p:cNvPicPr>
          <p:nvPr/>
        </p:nvPicPr>
        <p:blipFill>
          <a:blip r:embed="rId5"/>
          <a:stretch>
            <a:fillRect/>
          </a:stretch>
        </p:blipFill>
        <p:spPr>
          <a:xfrm>
            <a:off x="0" y="4470400"/>
            <a:ext cx="9144000" cy="991870"/>
          </a:xfrm>
          <a:prstGeom prst="rect">
            <a:avLst/>
          </a:prstGeom>
        </p:spPr>
      </p:pic>
      <p:sp>
        <p:nvSpPr>
          <p:cNvPr id="5" name="TextBox 4"/>
          <p:cNvSpPr txBox="1"/>
          <p:nvPr/>
        </p:nvSpPr>
        <p:spPr>
          <a:xfrm>
            <a:off x="92075" y="1725930"/>
            <a:ext cx="8960485" cy="711835"/>
          </a:xfrm>
          <a:prstGeom prst="rect">
            <a:avLst/>
          </a:prstGeom>
          <a:noFill/>
        </p:spPr>
        <p:txBody>
          <a:bodyPr wrap="square">
            <a:spAutoFit/>
          </a:bodyPr>
          <a:lstStyle/>
          <a:p>
            <a:r>
              <a:rPr sz="1400" b="0">
                <a:solidFill>
                  <a:srgbClr val="000000"/>
                </a:solidFill>
                <a:latin typeface="Microsoft YaHei"/>
              </a:rPr>
              <a:t>      尝试引入了文中流行度感知的门控机制，通过基于流行度的门控系数，在用户采样中提高 cold course 对课程信号的依赖。</a:t>
            </a:r>
          </a:p>
        </p:txBody>
      </p:sp>
      <p:sp>
        <p:nvSpPr>
          <p:cNvPr id="6" name="TextBox 5"/>
          <p:cNvSpPr txBox="1"/>
          <p:nvPr/>
        </p:nvSpPr>
        <p:spPr>
          <a:xfrm>
            <a:off x="465455" y="2601595"/>
            <a:ext cx="3048000" cy="368935"/>
          </a:xfrm>
          <a:prstGeom prst="rect">
            <a:avLst/>
          </a:prstGeom>
          <a:noFill/>
        </p:spPr>
        <p:txBody>
          <a:bodyPr wrap="square">
            <a:spAutoFit/>
          </a:bodyPr>
          <a:lstStyle/>
          <a:p>
            <a:r>
              <a:rPr sz="1400" b="0">
                <a:solidFill>
                  <a:srgbClr val="000000"/>
                </a:solidFill>
                <a:latin typeface="Microsoft YaHei"/>
              </a:rPr>
              <a:t>MOOCCube：</a:t>
            </a:r>
          </a:p>
        </p:txBody>
      </p:sp>
      <p:sp>
        <p:nvSpPr>
          <p:cNvPr id="7" name="TextBox 6"/>
          <p:cNvSpPr txBox="1"/>
          <p:nvPr/>
        </p:nvSpPr>
        <p:spPr>
          <a:xfrm>
            <a:off x="465455" y="4101465"/>
            <a:ext cx="3048000" cy="368935"/>
          </a:xfrm>
          <a:prstGeom prst="rect">
            <a:avLst/>
          </a:prstGeom>
          <a:noFill/>
        </p:spPr>
        <p:txBody>
          <a:bodyPr wrap="square">
            <a:spAutoFit/>
          </a:bodyPr>
          <a:lstStyle/>
          <a:p>
            <a:r>
              <a:rPr sz="1400" b="0">
                <a:solidFill>
                  <a:srgbClr val="000000"/>
                </a:solidFill>
                <a:latin typeface="Microsoft YaHei"/>
              </a:rPr>
              <a:t>Junyi：</a:t>
            </a: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BEAUTIFY_FLAG" val="#wm#"/>
  <p:tag name="KSO_WM_TEMPLATE_CATEGORY" val="custom"/>
  <p:tag name="KSO_WM_TEMPLATE_INDEX" val="20205081"/>
</p:tagLst>
</file>

<file path=ppt/tags/tag64.xml><?xml version="1.0" encoding="utf-8"?>
<p:tagLst xmlns:p="http://schemas.openxmlformats.org/presentationml/2006/main">
  <p:tag name="KSO_WM_BEAUTIFY_FLAG" val="#wm#"/>
  <p:tag name="KSO_WM_TEMPLATE_CATEGORY" val="custom"/>
  <p:tag name="KSO_WM_TEMPLATE_INDEX" val="20205081"/>
</p:tagLst>
</file>

<file path=ppt/tags/tag65.xml><?xml version="1.0" encoding="utf-8"?>
<p:tagLst xmlns:p="http://schemas.openxmlformats.org/presentationml/2006/main">
  <p:tag name="KSO_WM_BEAUTIFY_FLAG" val="#wm#"/>
  <p:tag name="KSO_WM_TEMPLATE_CATEGORY" val="custom"/>
  <p:tag name="KSO_WM_TEMPLATE_INDEX" val="20205081"/>
</p:tagLst>
</file>

<file path=ppt/tags/tag66.xml><?xml version="1.0" encoding="utf-8"?>
<p:tagLst xmlns:p="http://schemas.openxmlformats.org/presentationml/2006/main">
  <p:tag name="KSO_WM_BEAUTIFY_FLAG" val="#wm#"/>
  <p:tag name="KSO_WM_TEMPLATE_CATEGORY" val="custom"/>
  <p:tag name="KSO_WM_TEMPLATE_INDEX" val="20205081"/>
</p:tagLst>
</file>

<file path=ppt/tags/tag67.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BEAUTIFY_FLAG" val="#wm#"/>
  <p:tag name="KSO_WM_TEMPLATE_CATEGORY" val="custom"/>
  <p:tag name="KSO_WM_TEMPLATE_INDEX" val="20205081"/>
</p:tagLst>
</file>

<file path=ppt/tags/tag70.xml><?xml version="1.0" encoding="utf-8"?>
<p:tagLst xmlns:p="http://schemas.openxmlformats.org/presentationml/2006/main">
  <p:tag name="KSO_WM_BEAUTIFY_FLAG" val="#wm#"/>
  <p:tag name="KSO_WM_TEMPLATE_CATEGORY" val="custom"/>
  <p:tag name="KSO_WM_TEMPLATE_INDEX" val="20205081"/>
</p:tagLst>
</file>

<file path=ppt/tags/tag71.xml><?xml version="1.0" encoding="utf-8"?>
<p:tagLst xmlns:p="http://schemas.openxmlformats.org/presentationml/2006/main">
  <p:tag name="KSO_WM_BEAUTIFY_FLAG" val="#wm#"/>
  <p:tag name="KSO_WM_TEMPLATE_CATEGORY" val="custom"/>
  <p:tag name="KSO_WM_TEMPLATE_INDEX" val="20205081"/>
</p:tagLst>
</file>

<file path=ppt/tags/tag72.xml><?xml version="1.0" encoding="utf-8"?>
<p:tagLst xmlns:p="http://schemas.openxmlformats.org/presentationml/2006/main">
  <p:tag name="COMMONDATA" val="eyJoZGlkIjoiOTAyYmQwNDRmNDgwZWE0NWM4ZDNmZDE1MmYzZWI4MWQ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89</Words>
  <Application>WPS 演示</Application>
  <PresentationFormat>全屏显示(4:3)</PresentationFormat>
  <Paragraphs>20</Paragraphs>
  <Slides>9</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9</vt:i4>
      </vt:variant>
    </vt:vector>
  </HeadingPairs>
  <TitlesOfParts>
    <vt:vector size="18" baseType="lpstr">
      <vt:lpstr>Arial</vt:lpstr>
      <vt:lpstr>宋体</vt:lpstr>
      <vt:lpstr>Wingdings</vt:lpstr>
      <vt:lpstr>Wingdings</vt:lpstr>
      <vt:lpstr>Times New Roman</vt:lpstr>
      <vt:lpstr>微软雅黑</vt:lpstr>
      <vt:lpstr>Arial Unicode MS</vt:lpstr>
      <vt:lpstr>Calibri</vt:lpstr>
      <vt:lpstr>WPS</vt:lpstr>
      <vt:lpstr>Title</vt:lpstr>
      <vt:lpstr>Abstract</vt:lpstr>
      <vt:lpstr>key contributions</vt:lpstr>
      <vt:lpstr>Framework</vt:lpstr>
      <vt:lpstr>Method</vt:lpstr>
      <vt:lpstr>Method</vt:lpstr>
      <vt:lpstr>Datasets</vt:lpstr>
      <vt:lpstr>Experimental Evaluation</vt:lpstr>
      <vt:lpstr>Idea</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o_o</cp:lastModifiedBy>
  <cp:revision>405</cp:revision>
  <dcterms:created xsi:type="dcterms:W3CDTF">2019-06-19T02:08:00Z</dcterms:created>
  <dcterms:modified xsi:type="dcterms:W3CDTF">2026-07-06T11:10:28Z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D168EC3F916C4218827EF4C0FD3A01D2_13</vt:lpwstr>
  </property>
</Properties>
</file>