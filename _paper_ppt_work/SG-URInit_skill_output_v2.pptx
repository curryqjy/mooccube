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3" r:id="rId17"/>
    <p:sldId id="344"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Lst>
  <p:sldSz cx="9144000" cy="6858000" type="screen4x3"/>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0504D"/>
    <a:srgbClr val="AF4946"/>
    <a:srgbClr val="1C4372"/>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73" d="100"/>
          <a:sy n="73" d="100"/>
        </p:scale>
        <p:origin x="1747" y="53"/>
      </p:cViewPr>
      <p:guideLst>
        <p:guide orient="horz" pos="2105"/>
        <p:guide pos="288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4"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 Id="rId16" Type="http://schemas.openxmlformats.org/officeDocument/2006/relationships/tags" Target="tags/tag72.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899100" y="914400"/>
            <a:ext cx="73494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899100" y="3560400"/>
            <a:ext cx="73494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456300" y="1490400"/>
            <a:ext cx="82269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493100" y="3848400"/>
            <a:ext cx="58266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493100" y="4615200"/>
            <a:ext cx="58266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456300" y="1501200"/>
            <a:ext cx="38826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4808700" y="1501200"/>
            <a:ext cx="38826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456300" y="1429200"/>
            <a:ext cx="40068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456300" y="1854000"/>
            <a:ext cx="40068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4676813" y="1421729"/>
            <a:ext cx="40068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4676813" y="1854000"/>
            <a:ext cx="40068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456300" y="1555200"/>
            <a:ext cx="3924808"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4762800" y="1555200"/>
            <a:ext cx="39204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7676100" y="914400"/>
            <a:ext cx="783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685800" y="914400"/>
            <a:ext cx="68769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456300" y="774000"/>
            <a:ext cx="82296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899100" y="2484000"/>
            <a:ext cx="73494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899100" y="3560400"/>
            <a:ext cx="73494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ags" Target="../tags/tag61.xml"/><Relationship Id="rId17" Type="http://schemas.openxmlformats.org/officeDocument/2006/relationships/tags" Target="../tags/tag62.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456300" y="608400"/>
            <a:ext cx="82269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456300" y="1490400"/>
            <a:ext cx="82269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459000" y="6314400"/>
            <a:ext cx="2025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000" y="6314400"/>
            <a:ext cx="297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6658200" y="6314400"/>
            <a:ext cx="2025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3.xml"/><Relationship Id="rId3" Type="http://schemas.openxmlformats.org/officeDocument/2006/relationships/image" Target="../media/image1.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4.xml"/><Relationship Id="rId3" Type="http://schemas.openxmlformats.org/officeDocument/2006/relationships/image" Target="../media/image1.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5.xml"/><Relationship Id="rId3" Type="http://schemas.openxmlformats.org/officeDocument/2006/relationships/image" Target="../media/image1.jpe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5.xml"/><Relationship Id="rId3" Type="http://schemas.openxmlformats.org/officeDocument/2006/relationships/image" Target="../media/image1.jpe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6.xml"/><Relationship Id="rId3" Type="http://schemas.openxmlformats.org/officeDocument/2006/relationships/image" Target="../media/image1.jpe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7.xml"/><Relationship Id="rId3" Type="http://schemas.openxmlformats.org/officeDocument/2006/relationships/image" Target="../media/image1.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9.xml"/><Relationship Id="rId3" Type="http://schemas.openxmlformats.org/officeDocument/2006/relationships/image" Target="../media/image1.jpe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1.xml"/><Relationship Id="rId3" Type="http://schemas.openxmlformats.org/officeDocument/2006/relationships/image" Target="../media/image1.jpeg"/><Relationship Id="rId4" Type="http://schemas.openxmlformats.org/officeDocument/2006/relationships/image" Target="../media/image21.png"/><Relationship Id="rId5" Type="http://schemas.openxmlformats.org/officeDocument/2006/relationships/image" Target="../media/image22.png"/></Relationships>
</file>

<file path=ppt/slides/slide10.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Title</a:t>
            </a:r>
          </a:p>
        </p:txBody>
      </p:sp>
      <p:pic>
        <p:nvPicPr>
          <p:cNvPr id="3" name="Picture 2" descr="slide01_image01.png"/>
          <p:cNvPicPr>
            <a:picLocks noChangeAspect="1"/>
          </p:cNvPicPr>
          <p:nvPr/>
        </p:nvPicPr>
        <p:blipFill>
          <a:blip r:embed="rId4"/>
          <a:stretch>
            <a:fillRect/>
          </a:stretch>
        </p:blipFill>
        <p:spPr>
          <a:xfrm>
            <a:off x="0" y="1279525"/>
            <a:ext cx="9144000" cy="4177665"/>
          </a:xfrm>
          <a:prstGeom prst="rect">
            <a:avLst/>
          </a:prstGeom>
        </p:spPr>
      </p:pic>
      <p:sp>
        <p:nvSpPr>
          <p:cNvPr id="4" name="TextBox 3"/>
          <p:cNvSpPr txBox="1"/>
          <p:nvPr/>
        </p:nvSpPr>
        <p:spPr>
          <a:xfrm>
            <a:off x="3829678" y="5671163"/>
            <a:ext cx="1141730" cy="368300"/>
          </a:xfrm>
          <a:prstGeom prst="rect">
            <a:avLst/>
          </a:prstGeom>
          <a:noFill/>
        </p:spPr>
        <p:txBody>
          <a:bodyPr wrap="square">
            <a:spAutoFit/>
          </a:bodyPr>
          <a:lstStyle/>
          <a:p>
            <a:r>
              <a:rPr sz="1400" b="0">
                <a:solidFill>
                  <a:srgbClr val="000000"/>
                </a:solidFill>
                <a:latin typeface="Microsoft YaHei"/>
              </a:rPr>
              <a:t>SIGIR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Abstract</a:t>
            </a:r>
          </a:p>
        </p:txBody>
      </p:sp>
      <p:sp>
        <p:nvSpPr>
          <p:cNvPr id="6" name="文本框 5"/>
          <p:cNvSpPr txBox="1"/>
          <p:nvPr/>
        </p:nvSpPr>
        <p:spPr>
          <a:xfrm>
            <a:off x="5633085" y="1113790"/>
            <a:ext cx="2814320" cy="368300"/>
          </a:xfrm>
          <a:prstGeom prst="rect">
            <a:avLst/>
          </a:prstGeom>
          <a:noFill/>
        </p:spPr>
        <p:txBody>
          <a:bodyPr wrap="square" rtlCol="0">
            <a:spAutoFit/>
          </a:bodyPr>
          <a:lstStyle/>
          <a:p>
            <a:r>
              <a:rPr lang="zh-CN" altLang="en-US" dirty="0"/>
              <a:t>动机：</a:t>
            </a:r>
            <a:endParaRPr lang="zh-CN" altLang="en-US" dirty="0"/>
          </a:p>
        </p:txBody>
      </p:sp>
      <p:pic>
        <p:nvPicPr>
          <p:cNvPr id="7" name="Picture 6" descr="slide02_image01.png"/>
          <p:cNvPicPr>
            <a:picLocks noChangeAspect="1"/>
          </p:cNvPicPr>
          <p:nvPr/>
        </p:nvPicPr>
        <p:blipFill>
          <a:blip r:embed="rId4"/>
          <a:stretch>
            <a:fillRect/>
          </a:stretch>
        </p:blipFill>
        <p:spPr>
          <a:xfrm>
            <a:off x="161925" y="867410"/>
            <a:ext cx="4600575" cy="5601970"/>
          </a:xfrm>
          <a:prstGeom prst="rect">
            <a:avLst/>
          </a:prstGeom>
        </p:spPr>
      </p:pic>
      <p:sp>
        <p:nvSpPr>
          <p:cNvPr id="8" name="TextBox 7"/>
          <p:cNvSpPr txBox="1"/>
          <p:nvPr/>
        </p:nvSpPr>
        <p:spPr>
          <a:xfrm>
            <a:off x="5633085" y="1113790"/>
            <a:ext cx="2814320" cy="368300"/>
          </a:xfrm>
          <a:prstGeom prst="rect">
            <a:avLst/>
          </a:prstGeom>
          <a:noFill/>
        </p:spPr>
        <p:txBody>
          <a:bodyPr wrap="square">
            <a:spAutoFit/>
          </a:bodyPr>
          <a:lstStyle/>
          <a:p>
            <a:r>
              <a:rPr sz="1400" b="0">
                <a:solidFill>
                  <a:srgbClr val="000000"/>
                </a:solidFill>
                <a:latin typeface="Microsoft YaHei"/>
              </a:rPr>
              <a:t>动机：</a:t>
            </a:r>
          </a:p>
        </p:txBody>
      </p:sp>
      <p:sp>
        <p:nvSpPr>
          <p:cNvPr id="9" name="TextBox 8"/>
          <p:cNvSpPr txBox="1"/>
          <p:nvPr/>
        </p:nvSpPr>
        <p:spPr>
          <a:xfrm>
            <a:off x="5633085" y="1562100"/>
            <a:ext cx="3378835" cy="4358005"/>
          </a:xfrm>
          <a:prstGeom prst="rect">
            <a:avLst/>
          </a:prstGeom>
          <a:noFill/>
        </p:spPr>
        <p:txBody>
          <a:bodyPr wrap="square">
            <a:spAutoFit/>
          </a:bodyPr>
          <a:lstStyle/>
          <a:p>
            <a:r>
              <a:rPr sz="1300" b="0">
                <a:solidFill>
                  <a:srgbClr val="000000"/>
                </a:solidFill>
                <a:latin typeface="Microsoft YaHei"/>
              </a:rPr>
              <a:t>    现有的多模态推荐方法往往忽视了用户表示初始化这一关键环节，与天然具备丰富模态信息的物品不同，用户本身缺乏此类固有信息。</a:t>
            </a:r>
          </a:p>
          <a:p>
            <a:r>
              <a:rPr sz="1300" b="0">
                <a:solidFill>
                  <a:srgbClr val="000000"/>
                </a:solidFill>
                <a:latin typeface="Microsoft YaHei"/>
              </a:rPr>
              <a:t>    基于有意义模态信息初始化的物品表示与随机初始化的用户表示之间存在显著的语义差异。</a:t>
            </a:r>
          </a:p>
          <a:p>
            <a:r>
              <a:rPr sz="1300" b="0">
                <a:solidFill>
                  <a:srgbClr val="000000"/>
                </a:solidFill>
                <a:latin typeface="Microsoft YaHei"/>
              </a:rPr>
              <a:t>    因此文章提出了一种语义保证的用户表征初始化方法（SG-URInit），SG-URInit 通过整合用户交互过的项目的模态特征及其对应聚类的全局特征，为每位用户构建初始表征。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Motivation</a:t>
            </a:r>
          </a:p>
        </p:txBody>
      </p:sp>
      <p:pic>
        <p:nvPicPr>
          <p:cNvPr id="3" name="Picture 2" descr="slide03_image01.png"/>
          <p:cNvPicPr>
            <a:picLocks noChangeAspect="1"/>
          </p:cNvPicPr>
          <p:nvPr/>
        </p:nvPicPr>
        <p:blipFill>
          <a:blip r:embed="rId4"/>
          <a:stretch>
            <a:fillRect/>
          </a:stretch>
        </p:blipFill>
        <p:spPr>
          <a:xfrm>
            <a:off x="0" y="1449070"/>
            <a:ext cx="9144000" cy="395922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key contributions</a:t>
            </a:r>
          </a:p>
        </p:txBody>
      </p:sp>
      <p:pic>
        <p:nvPicPr>
          <p:cNvPr id="3" name="Picture 2" descr="slide04_image01.png"/>
          <p:cNvPicPr>
            <a:picLocks noChangeAspect="1"/>
          </p:cNvPicPr>
          <p:nvPr/>
        </p:nvPicPr>
        <p:blipFill>
          <a:blip r:embed="rId4"/>
          <a:stretch>
            <a:fillRect/>
          </a:stretch>
        </p:blipFill>
        <p:spPr>
          <a:xfrm>
            <a:off x="1449705" y="1306830"/>
            <a:ext cx="6244590" cy="478917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Framework</a:t>
            </a:r>
          </a:p>
        </p:txBody>
      </p:sp>
      <p:pic>
        <p:nvPicPr>
          <p:cNvPr id="3" name="Picture 2" descr="slide05_image01.png"/>
          <p:cNvPicPr>
            <a:picLocks noChangeAspect="1"/>
          </p:cNvPicPr>
          <p:nvPr/>
        </p:nvPicPr>
        <p:blipFill>
          <a:blip r:embed="rId4"/>
          <a:stretch>
            <a:fillRect/>
          </a:stretch>
        </p:blipFill>
        <p:spPr>
          <a:xfrm>
            <a:off x="0" y="2016125"/>
            <a:ext cx="9144000" cy="282511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Method</a:t>
            </a:r>
          </a:p>
        </p:txBody>
      </p:sp>
      <p:pic>
        <p:nvPicPr>
          <p:cNvPr id="3" name="Picture 2" descr="slide06_image01.png"/>
          <p:cNvPicPr>
            <a:picLocks noChangeAspect="1"/>
          </p:cNvPicPr>
          <p:nvPr/>
        </p:nvPicPr>
        <p:blipFill>
          <a:blip r:embed="rId4"/>
          <a:stretch>
            <a:fillRect/>
          </a:stretch>
        </p:blipFill>
        <p:spPr>
          <a:xfrm>
            <a:off x="3506470" y="1501140"/>
            <a:ext cx="2365375" cy="779780"/>
          </a:xfrm>
          <a:prstGeom prst="rect">
            <a:avLst/>
          </a:prstGeom>
        </p:spPr>
      </p:pic>
      <p:pic>
        <p:nvPicPr>
          <p:cNvPr id="4" name="Picture 3" descr="slide06_image02.png"/>
          <p:cNvPicPr>
            <a:picLocks noChangeAspect="1"/>
          </p:cNvPicPr>
          <p:nvPr/>
        </p:nvPicPr>
        <p:blipFill>
          <a:blip r:embed="rId5"/>
          <a:stretch>
            <a:fillRect/>
          </a:stretch>
        </p:blipFill>
        <p:spPr>
          <a:xfrm>
            <a:off x="2813685" y="2973070"/>
            <a:ext cx="4720590" cy="478155"/>
          </a:xfrm>
          <a:prstGeom prst="rect">
            <a:avLst/>
          </a:prstGeom>
        </p:spPr>
      </p:pic>
      <p:pic>
        <p:nvPicPr>
          <p:cNvPr id="5" name="Picture 4" descr="slide06_image03.png"/>
          <p:cNvPicPr>
            <a:picLocks noChangeAspect="1"/>
          </p:cNvPicPr>
          <p:nvPr/>
        </p:nvPicPr>
        <p:blipFill>
          <a:blip r:embed="rId6"/>
          <a:stretch>
            <a:fillRect/>
          </a:stretch>
        </p:blipFill>
        <p:spPr>
          <a:xfrm>
            <a:off x="3219450" y="3577590"/>
            <a:ext cx="3621405" cy="843280"/>
          </a:xfrm>
          <a:prstGeom prst="rect">
            <a:avLst/>
          </a:prstGeom>
        </p:spPr>
      </p:pic>
      <p:pic>
        <p:nvPicPr>
          <p:cNvPr id="6" name="Picture 5" descr="slide06_image04.png"/>
          <p:cNvPicPr>
            <a:picLocks noChangeAspect="1"/>
          </p:cNvPicPr>
          <p:nvPr/>
        </p:nvPicPr>
        <p:blipFill>
          <a:blip r:embed="rId7"/>
          <a:stretch>
            <a:fillRect/>
          </a:stretch>
        </p:blipFill>
        <p:spPr>
          <a:xfrm>
            <a:off x="3813175" y="4420870"/>
            <a:ext cx="2433955" cy="755650"/>
          </a:xfrm>
          <a:prstGeom prst="rect">
            <a:avLst/>
          </a:prstGeom>
        </p:spPr>
      </p:pic>
      <p:pic>
        <p:nvPicPr>
          <p:cNvPr id="7" name="Picture 6" descr="slide06_image05.png"/>
          <p:cNvPicPr>
            <a:picLocks noChangeAspect="1"/>
          </p:cNvPicPr>
          <p:nvPr/>
        </p:nvPicPr>
        <p:blipFill>
          <a:blip r:embed="rId8"/>
          <a:stretch>
            <a:fillRect/>
          </a:stretch>
        </p:blipFill>
        <p:spPr>
          <a:xfrm>
            <a:off x="3277235" y="5687060"/>
            <a:ext cx="3505200" cy="571500"/>
          </a:xfrm>
          <a:prstGeom prst="rect">
            <a:avLst/>
          </a:prstGeom>
        </p:spPr>
      </p:pic>
      <p:sp>
        <p:nvSpPr>
          <p:cNvPr id="8" name="TextBox 7"/>
          <p:cNvSpPr txBox="1"/>
          <p:nvPr/>
        </p:nvSpPr>
        <p:spPr>
          <a:xfrm>
            <a:off x="436245" y="1141730"/>
            <a:ext cx="5060315" cy="368300"/>
          </a:xfrm>
          <a:prstGeom prst="rect">
            <a:avLst/>
          </a:prstGeom>
          <a:noFill/>
        </p:spPr>
        <p:txBody>
          <a:bodyPr wrap="square">
            <a:spAutoFit/>
          </a:bodyPr>
          <a:lstStyle/>
          <a:p>
            <a:r>
              <a:rPr sz="1400" b="1">
                <a:solidFill>
                  <a:srgbClr val="000000"/>
                </a:solidFill>
                <a:latin typeface="Microsoft YaHei"/>
              </a:rPr>
              <a:t>Item-level Aggregation</a:t>
            </a:r>
          </a:p>
        </p:txBody>
      </p:sp>
      <p:sp>
        <p:nvSpPr>
          <p:cNvPr id="9" name="TextBox 8"/>
          <p:cNvSpPr txBox="1"/>
          <p:nvPr/>
        </p:nvSpPr>
        <p:spPr>
          <a:xfrm>
            <a:off x="436245" y="2407920"/>
            <a:ext cx="4812665" cy="368300"/>
          </a:xfrm>
          <a:prstGeom prst="rect">
            <a:avLst/>
          </a:prstGeom>
          <a:noFill/>
        </p:spPr>
        <p:txBody>
          <a:bodyPr wrap="square">
            <a:spAutoFit/>
          </a:bodyPr>
          <a:lstStyle/>
          <a:p>
            <a:r>
              <a:rPr sz="1400" b="1">
                <a:solidFill>
                  <a:srgbClr val="000000"/>
                </a:solidFill>
                <a:latin typeface="Microsoft YaHei"/>
              </a:rPr>
              <a:t>Cluster-level Aggregation</a:t>
            </a:r>
          </a:p>
        </p:txBody>
      </p:sp>
      <p:sp>
        <p:nvSpPr>
          <p:cNvPr id="10" name="TextBox 9"/>
          <p:cNvSpPr txBox="1"/>
          <p:nvPr/>
        </p:nvSpPr>
        <p:spPr>
          <a:xfrm>
            <a:off x="436245" y="5318760"/>
            <a:ext cx="4572000" cy="368300"/>
          </a:xfrm>
          <a:prstGeom prst="rect">
            <a:avLst/>
          </a:prstGeom>
          <a:noFill/>
        </p:spPr>
        <p:txBody>
          <a:bodyPr wrap="square">
            <a:spAutoFit/>
          </a:bodyPr>
          <a:lstStyle/>
          <a:p>
            <a:r>
              <a:rPr sz="1400" b="1">
                <a:solidFill>
                  <a:srgbClr val="000000"/>
                </a:solidFill>
                <a:latin typeface="Microsoft YaHei"/>
              </a:rPr>
              <a:t>Fusion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Datasets</a:t>
            </a:r>
          </a:p>
        </p:txBody>
      </p:sp>
      <p:pic>
        <p:nvPicPr>
          <p:cNvPr id="3" name="Picture 2" descr="slide07_image01.png"/>
          <p:cNvPicPr>
            <a:picLocks noChangeAspect="1"/>
          </p:cNvPicPr>
          <p:nvPr/>
        </p:nvPicPr>
        <p:blipFill>
          <a:blip r:embed="rId4"/>
          <a:stretch>
            <a:fillRect/>
          </a:stretch>
        </p:blipFill>
        <p:spPr>
          <a:xfrm>
            <a:off x="190500" y="1718945"/>
            <a:ext cx="8763000" cy="341947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08_image01.png"/>
          <p:cNvPicPr>
            <a:picLocks noChangeAspect="1"/>
          </p:cNvPicPr>
          <p:nvPr/>
        </p:nvPicPr>
        <p:blipFill>
          <a:blip r:embed="rId4"/>
          <a:stretch>
            <a:fillRect/>
          </a:stretch>
        </p:blipFill>
        <p:spPr>
          <a:xfrm>
            <a:off x="0" y="1149985"/>
            <a:ext cx="9144000" cy="455803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09_image01.png"/>
          <p:cNvPicPr>
            <a:picLocks noChangeAspect="1"/>
          </p:cNvPicPr>
          <p:nvPr/>
        </p:nvPicPr>
        <p:blipFill>
          <a:blip r:embed="rId4"/>
          <a:stretch>
            <a:fillRect/>
          </a:stretch>
        </p:blipFill>
        <p:spPr>
          <a:xfrm>
            <a:off x="0" y="1057910"/>
            <a:ext cx="9144000" cy="474154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0_image01.png"/>
          <p:cNvPicPr>
            <a:picLocks noChangeAspect="1"/>
          </p:cNvPicPr>
          <p:nvPr/>
        </p:nvPicPr>
        <p:blipFill>
          <a:blip r:embed="rId4"/>
          <a:stretch>
            <a:fillRect/>
          </a:stretch>
        </p:blipFill>
        <p:spPr>
          <a:xfrm>
            <a:off x="775970" y="1068070"/>
            <a:ext cx="7591425" cy="4848225"/>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1_image01.png"/>
          <p:cNvPicPr>
            <a:picLocks noChangeAspect="1"/>
          </p:cNvPicPr>
          <p:nvPr/>
        </p:nvPicPr>
        <p:blipFill>
          <a:blip r:embed="rId4"/>
          <a:stretch>
            <a:fillRect/>
          </a:stretch>
        </p:blipFill>
        <p:spPr>
          <a:xfrm>
            <a:off x="1671955" y="959485"/>
            <a:ext cx="5800090" cy="54991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2_image01.png"/>
          <p:cNvPicPr>
            <a:picLocks noChangeAspect="1"/>
          </p:cNvPicPr>
          <p:nvPr/>
        </p:nvPicPr>
        <p:blipFill>
          <a:blip r:embed="rId4"/>
          <a:stretch>
            <a:fillRect/>
          </a:stretch>
        </p:blipFill>
        <p:spPr>
          <a:xfrm>
            <a:off x="1301750" y="924560"/>
            <a:ext cx="6540500" cy="543941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3_image01.png"/>
          <p:cNvPicPr>
            <a:picLocks noChangeAspect="1"/>
          </p:cNvPicPr>
          <p:nvPr/>
        </p:nvPicPr>
        <p:blipFill>
          <a:blip r:embed="rId4"/>
          <a:stretch>
            <a:fillRect/>
          </a:stretch>
        </p:blipFill>
        <p:spPr>
          <a:xfrm>
            <a:off x="0" y="2085975"/>
            <a:ext cx="9144000" cy="268605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4_image01.png"/>
          <p:cNvPicPr>
            <a:picLocks noChangeAspect="1"/>
          </p:cNvPicPr>
          <p:nvPr/>
        </p:nvPicPr>
        <p:blipFill>
          <a:blip r:embed="rId4"/>
          <a:stretch>
            <a:fillRect/>
          </a:stretch>
        </p:blipFill>
        <p:spPr>
          <a:xfrm>
            <a:off x="0" y="2117090"/>
            <a:ext cx="9144000" cy="26238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5_image01.png"/>
          <p:cNvPicPr>
            <a:picLocks noChangeAspect="1"/>
          </p:cNvPicPr>
          <p:nvPr/>
        </p:nvPicPr>
        <p:blipFill>
          <a:blip r:embed="rId4"/>
          <a:stretch>
            <a:fillRect/>
          </a:stretch>
        </p:blipFill>
        <p:spPr>
          <a:xfrm>
            <a:off x="0" y="2093595"/>
            <a:ext cx="9144000" cy="267081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6_image01.png"/>
          <p:cNvPicPr>
            <a:picLocks noChangeAspect="1"/>
          </p:cNvPicPr>
          <p:nvPr/>
        </p:nvPicPr>
        <p:blipFill>
          <a:blip r:embed="rId4"/>
          <a:stretch>
            <a:fillRect/>
          </a:stretch>
        </p:blipFill>
        <p:spPr>
          <a:xfrm>
            <a:off x="1196975" y="1014095"/>
            <a:ext cx="6750685" cy="5273675"/>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7_image01.png"/>
          <p:cNvPicPr>
            <a:picLocks noChangeAspect="1"/>
          </p:cNvPicPr>
          <p:nvPr/>
        </p:nvPicPr>
        <p:blipFill>
          <a:blip r:embed="rId4"/>
          <a:stretch>
            <a:fillRect/>
          </a:stretch>
        </p:blipFill>
        <p:spPr>
          <a:xfrm>
            <a:off x="1576070" y="2371725"/>
            <a:ext cx="5991225" cy="211455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8_image01.png"/>
          <p:cNvPicPr>
            <a:picLocks noChangeAspect="1"/>
          </p:cNvPicPr>
          <p:nvPr/>
        </p:nvPicPr>
        <p:blipFill>
          <a:blip r:embed="rId4"/>
          <a:stretch>
            <a:fillRect/>
          </a:stretch>
        </p:blipFill>
        <p:spPr>
          <a:xfrm>
            <a:off x="0" y="1510030"/>
            <a:ext cx="9144000" cy="38379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Idea</a:t>
            </a:r>
          </a:p>
        </p:txBody>
      </p:sp>
      <p:pic>
        <p:nvPicPr>
          <p:cNvPr id="3" name="Picture 2" descr="slide16_image01.png"/>
          <p:cNvPicPr>
            <a:picLocks noChangeAspect="1"/>
          </p:cNvPicPr>
          <p:nvPr/>
        </p:nvPicPr>
        <p:blipFill>
          <a:blip r:embed="rId4"/>
          <a:stretch>
            <a:fillRect/>
          </a:stretch>
        </p:blipFill>
        <p:spPr>
          <a:xfrm>
            <a:off x="0" y="3042920"/>
            <a:ext cx="9144000" cy="940435"/>
          </a:xfrm>
          <a:prstGeom prst="rect">
            <a:avLst/>
          </a:prstGeom>
        </p:spPr>
      </p:pic>
      <p:pic>
        <p:nvPicPr>
          <p:cNvPr id="4" name="Picture 3" descr="slide17_image01.png"/>
          <p:cNvPicPr>
            <a:picLocks noChangeAspect="1"/>
          </p:cNvPicPr>
          <p:nvPr/>
        </p:nvPicPr>
        <p:blipFill>
          <a:blip r:embed="rId5"/>
          <a:stretch>
            <a:fillRect/>
          </a:stretch>
        </p:blipFill>
        <p:spPr>
          <a:xfrm>
            <a:off x="0" y="4470400"/>
            <a:ext cx="9144000" cy="991870"/>
          </a:xfrm>
          <a:prstGeom prst="rect">
            <a:avLst/>
          </a:prstGeom>
        </p:spPr>
      </p:pic>
      <p:sp>
        <p:nvSpPr>
          <p:cNvPr id="5" name="TextBox 4"/>
          <p:cNvSpPr txBox="1"/>
          <p:nvPr/>
        </p:nvSpPr>
        <p:spPr>
          <a:xfrm>
            <a:off x="92075" y="1725930"/>
            <a:ext cx="8960485" cy="711835"/>
          </a:xfrm>
          <a:prstGeom prst="rect">
            <a:avLst/>
          </a:prstGeom>
          <a:noFill/>
        </p:spPr>
        <p:txBody>
          <a:bodyPr wrap="square">
            <a:spAutoFit/>
          </a:bodyPr>
          <a:lstStyle/>
          <a:p>
            <a:r>
              <a:rPr sz="1400" b="0">
                <a:solidFill>
                  <a:srgbClr val="000000"/>
                </a:solidFill>
                <a:latin typeface="Microsoft YaHei"/>
              </a:rPr>
              <a:t>      尝试引入了文中流行度感知的门控机制，通过基于流行度的门控系数，在用户采样中提高 cold course 对课程信号的依赖。</a:t>
            </a:r>
          </a:p>
        </p:txBody>
      </p:sp>
      <p:sp>
        <p:nvSpPr>
          <p:cNvPr id="6" name="TextBox 5"/>
          <p:cNvSpPr txBox="1"/>
          <p:nvPr/>
        </p:nvSpPr>
        <p:spPr>
          <a:xfrm>
            <a:off x="465455" y="2601595"/>
            <a:ext cx="3048000" cy="368935"/>
          </a:xfrm>
          <a:prstGeom prst="rect">
            <a:avLst/>
          </a:prstGeom>
          <a:noFill/>
        </p:spPr>
        <p:txBody>
          <a:bodyPr wrap="square">
            <a:spAutoFit/>
          </a:bodyPr>
          <a:lstStyle/>
          <a:p>
            <a:r>
              <a:rPr sz="1400" b="0">
                <a:solidFill>
                  <a:srgbClr val="000000"/>
                </a:solidFill>
                <a:latin typeface="Microsoft YaHei"/>
              </a:rPr>
              <a:t>MOOCCube：</a:t>
            </a:r>
          </a:p>
        </p:txBody>
      </p:sp>
      <p:sp>
        <p:nvSpPr>
          <p:cNvPr id="7" name="TextBox 6"/>
          <p:cNvSpPr txBox="1"/>
          <p:nvPr/>
        </p:nvSpPr>
        <p:spPr>
          <a:xfrm>
            <a:off x="465455" y="4101465"/>
            <a:ext cx="3048000" cy="368935"/>
          </a:xfrm>
          <a:prstGeom prst="rect">
            <a:avLst/>
          </a:prstGeom>
          <a:noFill/>
        </p:spPr>
        <p:txBody>
          <a:bodyPr wrap="square">
            <a:spAutoFit/>
          </a:bodyPr>
          <a:lstStyle/>
          <a:p>
            <a:r>
              <a:rPr sz="1400" b="0">
                <a:solidFill>
                  <a:srgbClr val="000000"/>
                </a:solidFill>
                <a:latin typeface="Microsoft YaHei"/>
              </a:rPr>
              <a:t>Junyi：</a:t>
            </a: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TEMPLATE_CATEGORY" val="custom"/>
  <p:tag name="KSO_WM_TEMPLATE_INDEX" val="20205081"/>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COMMONDATA" val="eyJoZGlkIjoiOTAyYmQwNDRmNDgwZWE0NWM4ZDNmZDE1MmYzZWI4MW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Words>
  <Application>WPS 演示</Application>
  <PresentationFormat>全屏显示(4:3)</PresentationFormat>
  <Paragraphs>20</Paragraphs>
  <Slides>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宋体</vt:lpstr>
      <vt:lpstr>Wingdings</vt:lpstr>
      <vt:lpstr>Wingdings</vt:lpstr>
      <vt:lpstr>Times New Roman</vt:lpstr>
      <vt:lpstr>微软雅黑</vt:lpstr>
      <vt:lpstr>Arial Unicode MS</vt:lpstr>
      <vt:lpstr>Calibri</vt:lpstr>
      <vt:lpstr>WPS</vt:lpstr>
      <vt:lpstr>Title</vt:lpstr>
      <vt:lpstr>Abstract</vt:lpstr>
      <vt:lpstr>key contributions</vt:lpstr>
      <vt:lpstr>Framework</vt:lpstr>
      <vt:lpstr>Method</vt:lpstr>
      <vt:lpstr>Method</vt:lpstr>
      <vt:lpstr>Datasets</vt:lpstr>
      <vt:lpstr>Experimental Evaluation</vt:lpstr>
      <vt:lpstr>Idea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o_o</cp:lastModifiedBy>
  <cp:revision>405</cp:revision>
  <dcterms:created xsi:type="dcterms:W3CDTF">2019-06-19T02:08:00Z</dcterms:created>
  <dcterms:modified xsi:type="dcterms:W3CDTF">2026-07-06T11:10:28Z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D168EC3F916C4218827EF4C0FD3A01D2_13</vt:lpwstr>
  </property>
</Properties>
</file>